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098" r:id="rId1"/>
  </p:sldMasterIdLst>
  <p:notesMasterIdLst>
    <p:notesMasterId r:id="rId10"/>
  </p:notesMasterIdLst>
  <p:sldIdLst>
    <p:sldId id="256" r:id="rId2"/>
    <p:sldId id="257" r:id="rId3"/>
    <p:sldId id="266" r:id="rId4"/>
    <p:sldId id="269" r:id="rId5"/>
    <p:sldId id="268" r:id="rId6"/>
    <p:sldId id="260" r:id="rId7"/>
    <p:sldId id="261" r:id="rId8"/>
    <p:sldId id="265" r:id="rId9"/>
  </p:sldIdLst>
  <p:sldSz cx="9144000" cy="5143500" type="screen16x9"/>
  <p:notesSz cx="5143500" cy="9144000"/>
  <p:embeddedFontLst>
    <p:embeddedFont>
      <p:font typeface="Consolas" panose="020B0609020204030204" pitchFamily="49" charset="0"/>
      <p:regular r:id="rId11"/>
      <p:bold r:id="rId12"/>
      <p:italic r:id="rId13"/>
      <p:boldItalic r:id="rId14"/>
    </p:embeddedFont>
    <p:embeddedFont>
      <p:font typeface="Gill Sans MT" panose="020B0502020104020203" pitchFamily="34" charset="0"/>
      <p:regular r:id="rId15"/>
      <p:bold r:id="rId16"/>
      <p:italic r:id="rId17"/>
      <p:boldItalic r:id="rId18"/>
    </p:embeddedFont>
    <p:embeddedFont>
      <p:font typeface="Roboto" panose="02000000000000000000" pitchFamily="2" charset="0"/>
      <p:regular r:id="rId19"/>
      <p:bold r:id="rId20"/>
      <p:italic r:id="rId21"/>
      <p:boldItalic r:id="rId22"/>
    </p:embeddedFont>
    <p:embeddedFont>
      <p:font typeface="Roboto Bold" panose="02000000000000000000" charset="0"/>
      <p:regular r:id="rId23"/>
    </p:embeddedFont>
    <p:embeddedFont>
      <p:font typeface="Roboto Slab" pitchFamily="2" charset="0"/>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7147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6AD6EE87-EBD5-4F12-A48A-63ACA297AC8F}" type="datetimeFigureOut">
              <a:rPr lang="en-US" smtClean="0"/>
              <a:t>7/6/2026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5875556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7/6/2026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337467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5A61015F-7CC6-4D0A-9D87-873EA4C304CC}" type="datetimeFigureOut">
              <a:rPr lang="en-US" smtClean="0"/>
              <a:t>7/6/2026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751557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86434" y="1978533"/>
            <a:ext cx="3203828" cy="23264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53737" y="1978533"/>
            <a:ext cx="3202685" cy="23264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90298CD5-6C1E-4009-B41F-6DF62E31D3BE}" type="datetimeFigureOut">
              <a:rPr lang="en-US" smtClean="0"/>
              <a:pPr/>
              <a:t>7/6/2026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0702824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87577" y="1735075"/>
            <a:ext cx="3202686" cy="528065"/>
          </a:xfrm>
        </p:spPr>
        <p:txBody>
          <a:bodyPr anchor="b" anchorCtr="1">
            <a:normAutofit/>
          </a:bodyPr>
          <a:lstStyle>
            <a:lvl1pPr marL="0" indent="0" algn="ctr">
              <a:buNone/>
              <a:defRPr sz="1425" b="0" cap="all" spc="75" baseline="0">
                <a:solidFill>
                  <a:schemeClr val="accent2"/>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1187577" y="2357438"/>
            <a:ext cx="3202686" cy="19475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4753737" y="2357438"/>
            <a:ext cx="3190113" cy="1947582"/>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4753737" y="1735075"/>
            <a:ext cx="3202686" cy="528065"/>
          </a:xfrm>
        </p:spPr>
        <p:txBody>
          <a:bodyPr anchor="b" anchorCtr="1">
            <a:normAutofit/>
          </a:bodyPr>
          <a:lstStyle>
            <a:lvl1pPr marL="0" indent="0" algn="ctr">
              <a:buNone/>
              <a:defRPr sz="1425" b="0" cap="all" spc="75" baseline="0">
                <a:solidFill>
                  <a:schemeClr val="accent2"/>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7" name="Date Placeholder 6"/>
          <p:cNvSpPr>
            <a:spLocks noGrp="1"/>
          </p:cNvSpPr>
          <p:nvPr>
            <p:ph type="dt" sz="half" idx="10"/>
          </p:nvPr>
        </p:nvSpPr>
        <p:spPr/>
        <p:txBody>
          <a:bodyPr/>
          <a:lstStyle/>
          <a:p>
            <a:fld id="{90298CD5-6C1E-4009-B41F-6DF62E31D3BE}" type="datetimeFigureOut">
              <a:rPr lang="en-US" smtClean="0"/>
              <a:pPr/>
              <a:t>7/6/2026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505153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7/6/2026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549201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7/6/2026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943765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03504" y="1682871"/>
            <a:ext cx="3364992" cy="856123"/>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5052060" y="603504"/>
            <a:ext cx="3611880" cy="39364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7/6/2026</a:t>
            </a:fld>
            <a:endParaRPr lang="en-US" dirty="0"/>
          </a:p>
        </p:txBody>
      </p:sp>
      <p:sp>
        <p:nvSpPr>
          <p:cNvPr id="6" name="Footer Placeholder 5"/>
          <p:cNvSpPr>
            <a:spLocks noGrp="1"/>
          </p:cNvSpPr>
          <p:nvPr>
            <p:ph type="ftr" sz="quarter" idx="11"/>
          </p:nvPr>
        </p:nvSpPr>
        <p:spPr>
          <a:xfrm>
            <a:off x="603505" y="4677156"/>
            <a:ext cx="3875627" cy="240030"/>
          </a:xfrm>
        </p:spPr>
        <p:txBody>
          <a:bodyPr/>
          <a:lstStyle>
            <a:lvl1pPr>
              <a:defRPr>
                <a:solidFill>
                  <a:srgbClr val="FFFFFF">
                    <a:alpha val="69804"/>
                  </a:srgbClr>
                </a:solidFill>
              </a:defRPr>
            </a:lvl1p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1553718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06392" y="1682871"/>
            <a:ext cx="3371249" cy="850980"/>
          </a:xfrm>
          <a:solidFill>
            <a:srgbClr val="FFFFFF"/>
          </a:solidFill>
          <a:ln>
            <a:solidFill>
              <a:srgbClr val="404040"/>
            </a:solidFill>
          </a:ln>
        </p:spPr>
        <p:txBody>
          <a:bodyPr anchor="ctr" anchorCtr="1">
            <a:noAutofit/>
          </a:bodyPr>
          <a:lstStyle>
            <a:lvl1pPr>
              <a:defRPr sz="165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572000" y="0"/>
            <a:ext cx="4576573" cy="5143500"/>
          </a:xfrm>
          <a:solidFill>
            <a:schemeClr val="bg1">
              <a:lumMod val="75000"/>
            </a:schemeClr>
          </a:solidFill>
        </p:spPr>
        <p:txBody>
          <a:bodyPr anchor="t"/>
          <a:lstStyle>
            <a:lvl1pPr marL="0" indent="0">
              <a:buNone/>
              <a:defRPr sz="24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36676" y="2662439"/>
            <a:ext cx="2846070" cy="1645528"/>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lvl1pPr>
              <a:defRPr>
                <a:solidFill>
                  <a:srgbClr val="FFFFFF">
                    <a:alpha val="90000"/>
                  </a:srgbClr>
                </a:solidFill>
                <a:effectLst>
                  <a:outerShdw blurRad="50800" dist="38100" dir="2700000" algn="tl" rotWithShape="0">
                    <a:prstClr val="black">
                      <a:alpha val="43000"/>
                    </a:prstClr>
                  </a:outerShdw>
                </a:effectLst>
              </a:defRPr>
            </a:lvl1pPr>
          </a:lstStyle>
          <a:p>
            <a:fld id="{C7616CA0-919D-4A49-9C8A-62FDFB3A5183}" type="datetimeFigureOut">
              <a:rPr lang="en-US" smtClean="0"/>
              <a:t>7/6/2026</a:t>
            </a:fld>
            <a:endParaRPr lang="en-US" dirty="0"/>
          </a:p>
        </p:txBody>
      </p:sp>
      <p:sp>
        <p:nvSpPr>
          <p:cNvPr id="6" name="Footer Placeholder 5"/>
          <p:cNvSpPr>
            <a:spLocks noGrp="1"/>
          </p:cNvSpPr>
          <p:nvPr>
            <p:ph type="ftr" sz="quarter" idx="11"/>
          </p:nvPr>
        </p:nvSpPr>
        <p:spPr>
          <a:xfrm>
            <a:off x="606393" y="4677156"/>
            <a:ext cx="3827797" cy="240030"/>
          </a:xfrm>
        </p:spPr>
        <p:txBody>
          <a:bodyPr/>
          <a:lstStyle>
            <a:lvl1pPr>
              <a:defRPr>
                <a:solidFill>
                  <a:srgbClr val="FFFFFF">
                    <a:alpha val="70000"/>
                  </a:srgbClr>
                </a:solidFill>
              </a:defRPr>
            </a:lvl1p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280674025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372038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702945"/>
            <a:ext cx="973956" cy="373761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73352" y="702945"/>
            <a:ext cx="4648867" cy="373761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0298CD5-6C1E-4009-B41F-6DF62E31D3BE}" type="datetimeFigureOut">
              <a:rPr lang="en-US" smtClean="0"/>
              <a:pPr/>
              <a:t>7/6/2026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4206651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7050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3352" y="723519"/>
            <a:ext cx="5797296" cy="89154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73352" y="1978534"/>
            <a:ext cx="5797296" cy="232648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866072" y="4679112"/>
            <a:ext cx="2065310"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90298CD5-6C1E-4009-B41F-6DF62E31D3BE}" type="datetimeFigureOut">
              <a:rPr lang="en-US" smtClean="0"/>
              <a:pPr/>
              <a:t>7/6/2026</a:t>
            </a:fld>
            <a:endParaRPr lang="en-US" dirty="0"/>
          </a:p>
        </p:txBody>
      </p:sp>
      <p:sp>
        <p:nvSpPr>
          <p:cNvPr id="5" name="Footer Placeholder 4"/>
          <p:cNvSpPr>
            <a:spLocks noGrp="1"/>
          </p:cNvSpPr>
          <p:nvPr>
            <p:ph type="ftr" sz="quarter" idx="3"/>
          </p:nvPr>
        </p:nvSpPr>
        <p:spPr>
          <a:xfrm>
            <a:off x="1200150" y="4677156"/>
            <a:ext cx="4425892" cy="240030"/>
          </a:xfrm>
          <a:prstGeom prst="rect">
            <a:avLst/>
          </a:prstGeom>
        </p:spPr>
        <p:txBody>
          <a:bodyPr vert="horz" lIns="91440" tIns="45720" rIns="91440" bIns="45720" rtlCol="0" anchor="ctr"/>
          <a:lstStyle>
            <a:lvl1pPr algn="l">
              <a:defRPr sz="788">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8069192" y="4663440"/>
            <a:ext cx="274320" cy="27432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38888153"/>
      </p:ext>
    </p:extLst>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 id="2147484110" r:id="rId12"/>
  </p:sldLayoutIdLst>
  <p:hf sldNum="0" hdr="0" ftr="0" dt="0"/>
  <p:txStyles>
    <p:titleStyle>
      <a:lvl1pPr algn="ctr" defTabSz="685800" rtl="0" eaLnBrk="1" latinLnBrk="0" hangingPunct="1">
        <a:lnSpc>
          <a:spcPct val="90000"/>
        </a:lnSpc>
        <a:spcBef>
          <a:spcPct val="0"/>
        </a:spcBef>
        <a:buNone/>
        <a:defRPr sz="2100" kern="1200" cap="all" spc="150" baseline="0">
          <a:solidFill>
            <a:schemeClr val="tx1">
              <a:lumMod val="85000"/>
              <a:lumOff val="15000"/>
            </a:schemeClr>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696120"/>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3257B8"/>
                </a:solidFill>
                <a:latin typeface="Roboto Slab" pitchFamily="34" charset="0"/>
                <a:ea typeface="Roboto Slab" pitchFamily="34" charset="-122"/>
                <a:cs typeface="Roboto Slab" pitchFamily="34" charset="-120"/>
              </a:rPr>
              <a:t>Global Generative AI Analysis in 2025</a:t>
            </a:r>
            <a:endParaRPr lang="en-US" sz="2750" dirty="0"/>
          </a:p>
        </p:txBody>
      </p:sp>
      <p:sp>
        <p:nvSpPr>
          <p:cNvPr id="4" name="Text 1"/>
          <p:cNvSpPr/>
          <p:nvPr/>
        </p:nvSpPr>
        <p:spPr>
          <a:xfrm>
            <a:off x="3925119" y="2794695"/>
            <a:ext cx="5179963" cy="226814"/>
          </a:xfrm>
          <a:prstGeom prst="rect">
            <a:avLst/>
          </a:prstGeom>
          <a:noFill/>
          <a:ln/>
        </p:spPr>
        <p:txBody>
          <a:bodyPr wrap="none" lIns="0" tIns="0" rIns="0" bIns="0" rtlCol="0" anchor="t"/>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Using MySQL Workbench</a:t>
            </a:r>
            <a:endParaRPr lang="en-US" sz="1100" dirty="0"/>
          </a:p>
        </p:txBody>
      </p:sp>
      <p:sp>
        <p:nvSpPr>
          <p:cNvPr id="5" name="Shape 2"/>
          <p:cNvSpPr/>
          <p:nvPr/>
        </p:nvSpPr>
        <p:spPr>
          <a:xfrm>
            <a:off x="3925119" y="3180978"/>
            <a:ext cx="1468041" cy="266402"/>
          </a:xfrm>
          <a:prstGeom prst="roundRect">
            <a:avLst>
              <a:gd name="adj" fmla="val 6386"/>
            </a:avLst>
          </a:prstGeom>
          <a:solidFill>
            <a:srgbClr val="D7DFF4"/>
          </a:solidFill>
          <a:ln/>
        </p:spPr>
      </p:sp>
      <p:sp>
        <p:nvSpPr>
          <p:cNvPr id="6" name="Text 3"/>
          <p:cNvSpPr/>
          <p:nvPr/>
        </p:nvSpPr>
        <p:spPr>
          <a:xfrm>
            <a:off x="4010174" y="3223468"/>
            <a:ext cx="1755130" cy="181421"/>
          </a:xfrm>
          <a:prstGeom prst="rect">
            <a:avLst/>
          </a:prstGeom>
          <a:noFill/>
          <a:ln/>
        </p:spPr>
        <p:txBody>
          <a:bodyPr wrap="none" lIns="0" tIns="0" rIns="0" bIns="0" rtlCol="0" anchor="t"/>
          <a:lstStyle/>
          <a:p>
            <a:pPr marL="0" indent="0" algn="l">
              <a:lnSpc>
                <a:spcPct val="133000"/>
              </a:lnSpc>
              <a:buNone/>
            </a:pPr>
            <a:r>
              <a:rPr lang="en-US" sz="850" dirty="0">
                <a:solidFill>
                  <a:srgbClr val="15213F"/>
                </a:solidFill>
                <a:latin typeface="Roboto" pitchFamily="34" charset="0"/>
                <a:ea typeface="Roboto" pitchFamily="34" charset="-122"/>
                <a:cs typeface="Roboto" pitchFamily="34" charset="-120"/>
              </a:rPr>
              <a:t>CREATED BY: ANJALY EM</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3925119" y="395213"/>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257B8"/>
                </a:solidFill>
                <a:latin typeface="Roboto Slab" pitchFamily="34" charset="0"/>
                <a:ea typeface="Roboto Slab" pitchFamily="34" charset="-122"/>
                <a:cs typeface="Roboto Slab" pitchFamily="34" charset="-120"/>
              </a:rPr>
              <a:t>Project Overview</a:t>
            </a:r>
            <a:endParaRPr lang="en-US" sz="2750" dirty="0"/>
          </a:p>
        </p:txBody>
      </p:sp>
      <p:sp>
        <p:nvSpPr>
          <p:cNvPr id="4" name="Shape 1"/>
          <p:cNvSpPr/>
          <p:nvPr/>
        </p:nvSpPr>
        <p:spPr>
          <a:xfrm>
            <a:off x="3925119" y="1137800"/>
            <a:ext cx="4722763" cy="588085"/>
          </a:xfrm>
          <a:prstGeom prst="roundRect">
            <a:avLst>
              <a:gd name="adj" fmla="val 2603"/>
            </a:avLst>
          </a:prstGeom>
          <a:solidFill>
            <a:srgbClr val="E9ECF2"/>
          </a:solidFill>
          <a:ln/>
        </p:spPr>
        <p:txBody>
          <a:bodyPr/>
          <a:lstStyle/>
          <a:p>
            <a:endParaRPr lang="en-IN" dirty="0"/>
          </a:p>
        </p:txBody>
      </p:sp>
      <p:sp>
        <p:nvSpPr>
          <p:cNvPr id="5" name="Text 2"/>
          <p:cNvSpPr/>
          <p:nvPr/>
        </p:nvSpPr>
        <p:spPr>
          <a:xfrm>
            <a:off x="4066877" y="1192560"/>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Dataset</a:t>
            </a:r>
            <a:endParaRPr lang="en-US" sz="1350" dirty="0"/>
          </a:p>
        </p:txBody>
      </p:sp>
      <p:sp>
        <p:nvSpPr>
          <p:cNvPr id="6" name="Text 3"/>
          <p:cNvSpPr/>
          <p:nvPr/>
        </p:nvSpPr>
        <p:spPr>
          <a:xfrm>
            <a:off x="4066877" y="1499071"/>
            <a:ext cx="4439245" cy="226814"/>
          </a:xfrm>
          <a:prstGeom prst="rect">
            <a:avLst/>
          </a:prstGeom>
          <a:noFill/>
          <a:ln/>
        </p:spPr>
        <p:txBody>
          <a:bodyPr wrap="none" lIns="0" tIns="0" rIns="0" bIns="0" rtlCol="0" anchor="t"/>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Kaggle — Global Generative AI dataset</a:t>
            </a:r>
            <a:endParaRPr lang="en-US" sz="1100" dirty="0"/>
          </a:p>
        </p:txBody>
      </p:sp>
      <p:sp>
        <p:nvSpPr>
          <p:cNvPr id="7" name="Shape 4"/>
          <p:cNvSpPr/>
          <p:nvPr/>
        </p:nvSpPr>
        <p:spPr>
          <a:xfrm>
            <a:off x="3925119" y="2009403"/>
            <a:ext cx="4722763" cy="816843"/>
          </a:xfrm>
          <a:prstGeom prst="roundRect">
            <a:avLst>
              <a:gd name="adj" fmla="val 2603"/>
            </a:avLst>
          </a:prstGeom>
          <a:solidFill>
            <a:srgbClr val="E9ECF2"/>
          </a:solidFill>
          <a:ln/>
        </p:spPr>
      </p:sp>
      <p:sp>
        <p:nvSpPr>
          <p:cNvPr id="8" name="Text 5"/>
          <p:cNvSpPr/>
          <p:nvPr/>
        </p:nvSpPr>
        <p:spPr>
          <a:xfrm>
            <a:off x="4066877" y="2151162"/>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Tool</a:t>
            </a:r>
            <a:endParaRPr lang="en-US" sz="1350" dirty="0"/>
          </a:p>
        </p:txBody>
      </p:sp>
      <p:sp>
        <p:nvSpPr>
          <p:cNvPr id="9" name="Text 6"/>
          <p:cNvSpPr/>
          <p:nvPr/>
        </p:nvSpPr>
        <p:spPr>
          <a:xfrm>
            <a:off x="4066877" y="2457673"/>
            <a:ext cx="4439245" cy="226814"/>
          </a:xfrm>
          <a:prstGeom prst="rect">
            <a:avLst/>
          </a:prstGeom>
          <a:noFill/>
          <a:ln/>
        </p:spPr>
        <p:txBody>
          <a:bodyPr wrap="none" lIns="0" tIns="0" rIns="0" bIns="0" rtlCol="0" anchor="t"/>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MySQL Workbench &amp; SQL</a:t>
            </a:r>
            <a:endParaRPr lang="en-US" sz="1100" dirty="0"/>
          </a:p>
        </p:txBody>
      </p:sp>
      <p:sp>
        <p:nvSpPr>
          <p:cNvPr id="10" name="Shape 7"/>
          <p:cNvSpPr/>
          <p:nvPr/>
        </p:nvSpPr>
        <p:spPr>
          <a:xfrm>
            <a:off x="3925119" y="2968005"/>
            <a:ext cx="4722763" cy="821606"/>
          </a:xfrm>
          <a:prstGeom prst="roundRect">
            <a:avLst>
              <a:gd name="adj" fmla="val 2588"/>
            </a:avLst>
          </a:prstGeom>
          <a:solidFill>
            <a:srgbClr val="E9ECF2"/>
          </a:solidFill>
          <a:ln/>
        </p:spPr>
      </p:sp>
      <p:sp>
        <p:nvSpPr>
          <p:cNvPr id="11" name="Text 8"/>
          <p:cNvSpPr/>
          <p:nvPr/>
        </p:nvSpPr>
        <p:spPr>
          <a:xfrm>
            <a:off x="4066877" y="3109764"/>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Database</a:t>
            </a:r>
            <a:endParaRPr lang="en-US" sz="1350" dirty="0"/>
          </a:p>
        </p:txBody>
      </p:sp>
      <p:sp>
        <p:nvSpPr>
          <p:cNvPr id="12" name="Text 9"/>
          <p:cNvSpPr/>
          <p:nvPr/>
        </p:nvSpPr>
        <p:spPr>
          <a:xfrm>
            <a:off x="4066877" y="3416275"/>
            <a:ext cx="4439245" cy="231577"/>
          </a:xfrm>
          <a:prstGeom prst="rect">
            <a:avLst/>
          </a:prstGeom>
          <a:noFill/>
          <a:ln/>
        </p:spPr>
        <p:txBody>
          <a:bodyPr wrap="none" lIns="0" tIns="0" rIns="0" bIns="0" rtlCol="0" anchor="t"/>
          <a:lstStyle/>
          <a:p>
            <a:pPr marL="0" indent="0" algn="l">
              <a:lnSpc>
                <a:spcPct val="133000"/>
              </a:lnSpc>
              <a:buNone/>
            </a:pPr>
            <a:r>
              <a:rPr lang="en-US" sz="1100" dirty="0">
                <a:solidFill>
                  <a:srgbClr val="15213F"/>
                </a:solidFill>
                <a:highlight>
                  <a:srgbClr val="EEEFF1"/>
                </a:highlight>
                <a:latin typeface="Consolas" pitchFamily="34" charset="0"/>
                <a:ea typeface="Consolas" pitchFamily="34" charset="-122"/>
                <a:cs typeface="Consolas" pitchFamily="34" charset="-120"/>
              </a:rPr>
              <a:t>genai_analysis</a:t>
            </a:r>
            <a:r>
              <a:rPr lang="en-US" sz="1100" dirty="0">
                <a:solidFill>
                  <a:srgbClr val="15213F"/>
                </a:solidFill>
                <a:latin typeface="Roboto" pitchFamily="34" charset="0"/>
                <a:ea typeface="Roboto" pitchFamily="34" charset="-122"/>
                <a:cs typeface="Roboto" pitchFamily="34" charset="-120"/>
              </a:rPr>
              <a:t> — 5 tables</a:t>
            </a:r>
            <a:endParaRPr lang="en-US" sz="1100" dirty="0"/>
          </a:p>
        </p:txBody>
      </p:sp>
      <p:sp>
        <p:nvSpPr>
          <p:cNvPr id="13" name="Shape 10"/>
          <p:cNvSpPr/>
          <p:nvPr/>
        </p:nvSpPr>
        <p:spPr>
          <a:xfrm>
            <a:off x="3925119" y="3931369"/>
            <a:ext cx="4722763" cy="816843"/>
          </a:xfrm>
          <a:prstGeom prst="roundRect">
            <a:avLst>
              <a:gd name="adj" fmla="val 2603"/>
            </a:avLst>
          </a:prstGeom>
          <a:solidFill>
            <a:srgbClr val="E9ECF2"/>
          </a:solidFill>
          <a:ln/>
        </p:spPr>
      </p:sp>
      <p:sp>
        <p:nvSpPr>
          <p:cNvPr id="14" name="Text 11"/>
          <p:cNvSpPr/>
          <p:nvPr/>
        </p:nvSpPr>
        <p:spPr>
          <a:xfrm>
            <a:off x="4066877" y="4073128"/>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SQL Techniques</a:t>
            </a:r>
            <a:endParaRPr lang="en-US" sz="1350" dirty="0"/>
          </a:p>
        </p:txBody>
      </p:sp>
      <p:sp>
        <p:nvSpPr>
          <p:cNvPr id="15" name="Text 12"/>
          <p:cNvSpPr/>
          <p:nvPr/>
        </p:nvSpPr>
        <p:spPr>
          <a:xfrm>
            <a:off x="4066877" y="4379640"/>
            <a:ext cx="4439245" cy="226814"/>
          </a:xfrm>
          <a:prstGeom prst="rect">
            <a:avLst/>
          </a:prstGeom>
          <a:noFill/>
          <a:ln/>
        </p:spPr>
        <p:txBody>
          <a:bodyPr wrap="none" lIns="0" tIns="0" rIns="0" bIns="0" rtlCol="0" anchor="t"/>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JOIN, GROUP BY, CASE, COALESCE, Aggregates</a:t>
            </a:r>
            <a:endParaRPr lang="en-US" sz="1100" dirty="0"/>
          </a:p>
        </p:txBody>
      </p:sp>
      <p:pic>
        <p:nvPicPr>
          <p:cNvPr id="21" name="Picture 20">
            <a:extLst>
              <a:ext uri="{FF2B5EF4-FFF2-40B4-BE49-F238E27FC236}">
                <a16:creationId xmlns:a16="http://schemas.microsoft.com/office/drawing/2014/main" id="{7A7831CE-6E45-AFE3-C13A-6A0626D41F65}"/>
              </a:ext>
            </a:extLst>
          </p:cNvPr>
          <p:cNvPicPr>
            <a:picLocks noChangeAspect="1"/>
          </p:cNvPicPr>
          <p:nvPr/>
        </p:nvPicPr>
        <p:blipFill>
          <a:blip r:embed="rId3"/>
          <a:srcRect l="12651" r="14805" b="11714"/>
          <a:stretch>
            <a:fillRect/>
          </a:stretch>
        </p:blipFill>
        <p:spPr>
          <a:xfrm>
            <a:off x="56272" y="84405"/>
            <a:ext cx="3784208" cy="51570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EF9852-8F71-58E9-1B09-9D3FAF0B2EEE}"/>
              </a:ext>
            </a:extLst>
          </p:cNvPr>
          <p:cNvSpPr txBox="1"/>
          <p:nvPr/>
        </p:nvSpPr>
        <p:spPr>
          <a:xfrm>
            <a:off x="274320" y="207892"/>
            <a:ext cx="4572000" cy="652358"/>
          </a:xfrm>
          <a:prstGeom prst="rect">
            <a:avLst/>
          </a:prstGeom>
          <a:noFill/>
        </p:spPr>
        <p:txBody>
          <a:bodyPr wrap="square">
            <a:spAutoFit/>
          </a:bodyPr>
          <a:lstStyle/>
          <a:p>
            <a:pPr>
              <a:lnSpc>
                <a:spcPct val="104000"/>
              </a:lnSpc>
            </a:pPr>
            <a:r>
              <a:rPr lang="en-US" sz="3600" dirty="0">
                <a:solidFill>
                  <a:srgbClr val="0070C0"/>
                </a:solidFill>
                <a:latin typeface="Roboto Slab" pitchFamily="2" charset="0"/>
                <a:ea typeface="Roboto Slab" pitchFamily="2" charset="0"/>
                <a:cs typeface="Roboto Slab" pitchFamily="2" charset="0"/>
              </a:rPr>
              <a:t>Project </a:t>
            </a:r>
            <a:r>
              <a:rPr lang="en-IN" sz="3600" dirty="0">
                <a:solidFill>
                  <a:srgbClr val="0070C0"/>
                </a:solidFill>
                <a:latin typeface="Roboto Slab" pitchFamily="2" charset="0"/>
                <a:ea typeface="Roboto Slab" pitchFamily="2" charset="0"/>
                <a:cs typeface="Roboto Slab" pitchFamily="2" charset="0"/>
              </a:rPr>
              <a:t>objective </a:t>
            </a:r>
            <a:endParaRPr lang="en-US" sz="3600" dirty="0">
              <a:solidFill>
                <a:srgbClr val="0070C0"/>
              </a:solidFill>
              <a:latin typeface="Roboto Slab" pitchFamily="2" charset="0"/>
              <a:ea typeface="Roboto Slab" pitchFamily="2" charset="0"/>
              <a:cs typeface="Roboto Slab" pitchFamily="2" charset="0"/>
            </a:endParaRPr>
          </a:p>
        </p:txBody>
      </p:sp>
      <p:sp>
        <p:nvSpPr>
          <p:cNvPr id="5" name="TextBox 4">
            <a:extLst>
              <a:ext uri="{FF2B5EF4-FFF2-40B4-BE49-F238E27FC236}">
                <a16:creationId xmlns:a16="http://schemas.microsoft.com/office/drawing/2014/main" id="{D68EE581-30FB-6580-A765-E2F2255A34AD}"/>
              </a:ext>
            </a:extLst>
          </p:cNvPr>
          <p:cNvSpPr txBox="1"/>
          <p:nvPr/>
        </p:nvSpPr>
        <p:spPr>
          <a:xfrm>
            <a:off x="407963" y="1280160"/>
            <a:ext cx="8152228" cy="1077218"/>
          </a:xfrm>
          <a:prstGeom prst="rect">
            <a:avLst/>
          </a:prstGeom>
          <a:noFill/>
        </p:spPr>
        <p:txBody>
          <a:bodyPr wrap="square">
            <a:spAutoFit/>
          </a:bodyPr>
          <a:lstStyle/>
          <a:p>
            <a:r>
              <a:rPr lang="en-IN" sz="1600" dirty="0">
                <a:solidFill>
                  <a:schemeClr val="tx1">
                    <a:lumMod val="65000"/>
                    <a:lumOff val="35000"/>
                  </a:schemeClr>
                </a:solidFill>
              </a:rPr>
              <a:t>The main objective of this project is to </a:t>
            </a:r>
            <a:r>
              <a:rPr lang="en-IN" sz="1600" dirty="0" err="1">
                <a:solidFill>
                  <a:schemeClr val="tx1">
                    <a:lumMod val="65000"/>
                    <a:lumOff val="35000"/>
                  </a:schemeClr>
                </a:solidFill>
              </a:rPr>
              <a:t>analyze</a:t>
            </a:r>
            <a:r>
              <a:rPr lang="en-IN" sz="1600" dirty="0">
                <a:solidFill>
                  <a:schemeClr val="tx1">
                    <a:lumMod val="65000"/>
                    <a:lumOff val="35000"/>
                  </a:schemeClr>
                </a:solidFill>
              </a:rPr>
              <a:t> global Generative AI trends in 2025 by combining data from different sources using SQL. The goal is to convert raw data into meaningful business insights that help understand AI adoption, public trust, regulations, risks, and overall country performance.</a:t>
            </a:r>
          </a:p>
        </p:txBody>
      </p:sp>
    </p:spTree>
    <p:extLst>
      <p:ext uri="{BB962C8B-B14F-4D97-AF65-F5344CB8AC3E}">
        <p14:creationId xmlns:p14="http://schemas.microsoft.com/office/powerpoint/2010/main" val="1976311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911349"/>
            <a:ext cx="3558332" cy="387548"/>
          </a:xfrm>
          <a:prstGeom prst="rect">
            <a:avLst/>
          </a:prstGeom>
          <a:noFill/>
          <a:ln/>
        </p:spPr>
        <p:txBody>
          <a:bodyPr wrap="none" lIns="0" tIns="0" rIns="0" bIns="0" rtlCol="0" anchor="t"/>
          <a:lstStyle/>
          <a:p>
            <a:pPr marL="0" indent="0" algn="l">
              <a:lnSpc>
                <a:spcPct val="104000"/>
              </a:lnSpc>
              <a:buNone/>
            </a:pPr>
            <a:r>
              <a:rPr lang="en-US" sz="2400" dirty="0">
                <a:solidFill>
                  <a:srgbClr val="3257B8"/>
                </a:solidFill>
                <a:latin typeface="Roboto Slab" pitchFamily="34" charset="0"/>
                <a:ea typeface="Roboto Slab" pitchFamily="34" charset="-122"/>
                <a:cs typeface="Roboto Slab" pitchFamily="34" charset="-120"/>
              </a:rPr>
              <a:t>Database Overview</a:t>
            </a:r>
            <a:endParaRPr lang="en-US" sz="2400" dirty="0"/>
          </a:p>
        </p:txBody>
      </p:sp>
      <p:sp>
        <p:nvSpPr>
          <p:cNvPr id="3" name="Text 1"/>
          <p:cNvSpPr/>
          <p:nvPr/>
        </p:nvSpPr>
        <p:spPr>
          <a:xfrm>
            <a:off x="496119" y="1546920"/>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5213F"/>
                </a:solidFill>
                <a:latin typeface="Roboto" pitchFamily="34" charset="0"/>
                <a:ea typeface="Roboto" pitchFamily="34" charset="-122"/>
                <a:cs typeface="Roboto" pitchFamily="34" charset="-120"/>
              </a:rPr>
              <a:t>A relational database named </a:t>
            </a:r>
            <a:r>
              <a:rPr lang="en-US" sz="950" b="1" dirty="0">
                <a:solidFill>
                  <a:srgbClr val="15213F"/>
                </a:solidFill>
                <a:latin typeface="Roboto Bold" pitchFamily="34" charset="0"/>
                <a:ea typeface="Roboto Bold" pitchFamily="34" charset="-122"/>
                <a:cs typeface="Roboto Bold" pitchFamily="34" charset="-120"/>
              </a:rPr>
              <a:t>genai_analysis</a:t>
            </a:r>
            <a:r>
              <a:rPr lang="en-US" sz="950" dirty="0">
                <a:solidFill>
                  <a:srgbClr val="15213F"/>
                </a:solidFill>
                <a:latin typeface="Roboto" pitchFamily="34" charset="0"/>
                <a:ea typeface="Roboto" pitchFamily="34" charset="-122"/>
                <a:cs typeface="Roboto" pitchFamily="34" charset="-120"/>
              </a:rPr>
              <a:t> was built in MySQL Workbench, comprising </a:t>
            </a:r>
            <a:r>
              <a:rPr lang="en-US" sz="950" b="1" dirty="0">
                <a:solidFill>
                  <a:srgbClr val="15213F"/>
                </a:solidFill>
                <a:latin typeface="Roboto Bold" pitchFamily="34" charset="0"/>
                <a:ea typeface="Roboto Bold" pitchFamily="34" charset="-122"/>
                <a:cs typeface="Roboto Bold" pitchFamily="34" charset="-120"/>
              </a:rPr>
              <a:t>five interconnected tables</a:t>
            </a:r>
            <a:r>
              <a:rPr lang="en-US" sz="950" dirty="0">
                <a:solidFill>
                  <a:srgbClr val="15213F"/>
                </a:solidFill>
                <a:latin typeface="Roboto" pitchFamily="34" charset="0"/>
                <a:ea typeface="Roboto" pitchFamily="34" charset="-122"/>
                <a:cs typeface="Roboto" pitchFamily="34" charset="-120"/>
              </a:rPr>
              <a:t> linked through </a:t>
            </a:r>
            <a:r>
              <a:rPr lang="en-US" sz="950" b="1" dirty="0">
                <a:solidFill>
                  <a:srgbClr val="15213F"/>
                </a:solidFill>
                <a:latin typeface="Roboto Bold" pitchFamily="34" charset="0"/>
                <a:ea typeface="Roboto Bold" pitchFamily="34" charset="-122"/>
                <a:cs typeface="Roboto Bold" pitchFamily="34" charset="-120"/>
              </a:rPr>
              <a:t>Country</a:t>
            </a:r>
            <a:r>
              <a:rPr lang="en-US" sz="950" dirty="0">
                <a:solidFill>
                  <a:srgbClr val="15213F"/>
                </a:solidFill>
                <a:latin typeface="Roboto" pitchFamily="34" charset="0"/>
                <a:ea typeface="Roboto" pitchFamily="34" charset="-122"/>
                <a:cs typeface="Roboto" pitchFamily="34" charset="-120"/>
              </a:rPr>
              <a:t> and </a:t>
            </a:r>
            <a:r>
              <a:rPr lang="en-US" sz="950" b="1" dirty="0">
                <a:solidFill>
                  <a:srgbClr val="15213F"/>
                </a:solidFill>
                <a:latin typeface="Roboto Bold" pitchFamily="34" charset="0"/>
                <a:ea typeface="Roboto Bold" pitchFamily="34" charset="-122"/>
                <a:cs typeface="Roboto Bold" pitchFamily="34" charset="-120"/>
              </a:rPr>
              <a:t>Year</a:t>
            </a:r>
            <a:r>
              <a:rPr lang="en-US" sz="950" dirty="0">
                <a:solidFill>
                  <a:srgbClr val="15213F"/>
                </a:solidFill>
                <a:latin typeface="Roboto" pitchFamily="34" charset="0"/>
                <a:ea typeface="Roboto" pitchFamily="34" charset="-122"/>
                <a:cs typeface="Roboto" pitchFamily="34" charset="-120"/>
              </a:rPr>
              <a:t> keys. This structure enables cross-referencing across innovation, incidents, regulation, and public opinion.</a:t>
            </a:r>
            <a:endParaRPr lang="en-US" sz="950" dirty="0"/>
          </a:p>
        </p:txBody>
      </p:sp>
      <p:sp>
        <p:nvSpPr>
          <p:cNvPr id="4" name="Shape 2"/>
          <p:cNvSpPr/>
          <p:nvPr/>
        </p:nvSpPr>
        <p:spPr>
          <a:xfrm>
            <a:off x="496119" y="2083371"/>
            <a:ext cx="2634555" cy="1111597"/>
          </a:xfrm>
          <a:prstGeom prst="roundRect">
            <a:avLst>
              <a:gd name="adj" fmla="val 1674"/>
            </a:avLst>
          </a:prstGeom>
          <a:solidFill>
            <a:srgbClr val="E9ECF2"/>
          </a:solidFill>
          <a:ln/>
        </p:spPr>
      </p:sp>
      <p:sp>
        <p:nvSpPr>
          <p:cNvPr id="5" name="Text 3"/>
          <p:cNvSpPr/>
          <p:nvPr/>
        </p:nvSpPr>
        <p:spPr>
          <a:xfrm>
            <a:off x="620092" y="220734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Country Metrics</a:t>
            </a:r>
            <a:endParaRPr lang="en-US" sz="1200" dirty="0"/>
          </a:p>
        </p:txBody>
      </p:sp>
      <p:sp>
        <p:nvSpPr>
          <p:cNvPr id="6" name="Text 4"/>
          <p:cNvSpPr/>
          <p:nvPr/>
        </p:nvSpPr>
        <p:spPr>
          <a:xfrm>
            <a:off x="620092" y="2475607"/>
            <a:ext cx="238660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5213F"/>
                </a:solidFill>
                <a:latin typeface="Roboto" pitchFamily="34" charset="0"/>
                <a:ea typeface="Roboto" pitchFamily="34" charset="-122"/>
                <a:cs typeface="Roboto" pitchFamily="34" charset="-120"/>
              </a:rPr>
              <a:t>AI readiness, cloud infrastructure, competitiveness scores, and adoption indices by country</a:t>
            </a:r>
            <a:endParaRPr lang="en-US" sz="950" dirty="0"/>
          </a:p>
        </p:txBody>
      </p:sp>
      <p:sp>
        <p:nvSpPr>
          <p:cNvPr id="7" name="Shape 5"/>
          <p:cNvSpPr/>
          <p:nvPr/>
        </p:nvSpPr>
        <p:spPr>
          <a:xfrm>
            <a:off x="3254648" y="2083371"/>
            <a:ext cx="2634630" cy="1111597"/>
          </a:xfrm>
          <a:prstGeom prst="roundRect">
            <a:avLst>
              <a:gd name="adj" fmla="val 1674"/>
            </a:avLst>
          </a:prstGeom>
          <a:solidFill>
            <a:srgbClr val="E9ECF2"/>
          </a:solidFill>
          <a:ln/>
        </p:spPr>
      </p:sp>
      <p:sp>
        <p:nvSpPr>
          <p:cNvPr id="8" name="Text 6"/>
          <p:cNvSpPr/>
          <p:nvPr/>
        </p:nvSpPr>
        <p:spPr>
          <a:xfrm>
            <a:off x="3378622" y="220734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AI Incidents</a:t>
            </a:r>
            <a:endParaRPr lang="en-US" sz="1200" dirty="0"/>
          </a:p>
        </p:txBody>
      </p:sp>
      <p:sp>
        <p:nvSpPr>
          <p:cNvPr id="9" name="Text 7"/>
          <p:cNvSpPr/>
          <p:nvPr/>
        </p:nvSpPr>
        <p:spPr>
          <a:xfrm>
            <a:off x="3378622" y="2475607"/>
            <a:ext cx="238668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5213F"/>
                </a:solidFill>
                <a:latin typeface="Roboto" pitchFamily="34" charset="0"/>
                <a:ea typeface="Roboto" pitchFamily="34" charset="-122"/>
                <a:cs typeface="Roboto" pitchFamily="34" charset="-120"/>
              </a:rPr>
              <a:t>Recorded AI-related incidents, financial losses, and incident classifications by country and year</a:t>
            </a:r>
            <a:endParaRPr lang="en-US" sz="950" dirty="0"/>
          </a:p>
        </p:txBody>
      </p:sp>
      <p:sp>
        <p:nvSpPr>
          <p:cNvPr id="10" name="Shape 8"/>
          <p:cNvSpPr/>
          <p:nvPr/>
        </p:nvSpPr>
        <p:spPr>
          <a:xfrm>
            <a:off x="6013252" y="2083371"/>
            <a:ext cx="2634555" cy="1111597"/>
          </a:xfrm>
          <a:prstGeom prst="roundRect">
            <a:avLst>
              <a:gd name="adj" fmla="val 1674"/>
            </a:avLst>
          </a:prstGeom>
          <a:solidFill>
            <a:srgbClr val="E9ECF2"/>
          </a:solidFill>
          <a:ln/>
        </p:spPr>
      </p:sp>
      <p:sp>
        <p:nvSpPr>
          <p:cNvPr id="11" name="Text 9"/>
          <p:cNvSpPr/>
          <p:nvPr/>
        </p:nvSpPr>
        <p:spPr>
          <a:xfrm>
            <a:off x="6137225" y="2207344"/>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Model Releases</a:t>
            </a:r>
            <a:endParaRPr lang="en-US" sz="1200" dirty="0"/>
          </a:p>
        </p:txBody>
      </p:sp>
      <p:sp>
        <p:nvSpPr>
          <p:cNvPr id="12" name="Text 10"/>
          <p:cNvSpPr/>
          <p:nvPr/>
        </p:nvSpPr>
        <p:spPr>
          <a:xfrm>
            <a:off x="6137225" y="2475607"/>
            <a:ext cx="238660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5213F"/>
                </a:solidFill>
                <a:latin typeface="Roboto" pitchFamily="34" charset="0"/>
                <a:ea typeface="Roboto" pitchFamily="34" charset="-122"/>
                <a:cs typeface="Roboto" pitchFamily="34" charset="-120"/>
              </a:rPr>
              <a:t>AI model launches, download statistics, and technology classifications across global markets</a:t>
            </a:r>
            <a:endParaRPr lang="en-US" sz="950" dirty="0"/>
          </a:p>
        </p:txBody>
      </p:sp>
      <p:sp>
        <p:nvSpPr>
          <p:cNvPr id="13" name="Shape 11"/>
          <p:cNvSpPr/>
          <p:nvPr/>
        </p:nvSpPr>
        <p:spPr>
          <a:xfrm>
            <a:off x="496119" y="3318942"/>
            <a:ext cx="4013820" cy="913135"/>
          </a:xfrm>
          <a:prstGeom prst="roundRect">
            <a:avLst>
              <a:gd name="adj" fmla="val 2038"/>
            </a:avLst>
          </a:prstGeom>
          <a:solidFill>
            <a:srgbClr val="E9ECF2"/>
          </a:solidFill>
          <a:ln/>
        </p:spPr>
      </p:sp>
      <p:sp>
        <p:nvSpPr>
          <p:cNvPr id="14" name="Text 12"/>
          <p:cNvSpPr/>
          <p:nvPr/>
        </p:nvSpPr>
        <p:spPr>
          <a:xfrm>
            <a:off x="620092" y="344291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AI Regulations</a:t>
            </a:r>
            <a:endParaRPr lang="en-US" sz="1200" dirty="0"/>
          </a:p>
        </p:txBody>
      </p:sp>
      <p:sp>
        <p:nvSpPr>
          <p:cNvPr id="15" name="Text 13"/>
          <p:cNvSpPr/>
          <p:nvPr/>
        </p:nvSpPr>
        <p:spPr>
          <a:xfrm>
            <a:off x="620092" y="3711178"/>
            <a:ext cx="3765872"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5213F"/>
                </a:solidFill>
                <a:latin typeface="Roboto" pitchFamily="34" charset="0"/>
                <a:ea typeface="Roboto" pitchFamily="34" charset="-122"/>
                <a:cs typeface="Roboto" pitchFamily="34" charset="-120"/>
              </a:rPr>
              <a:t>Policy frameworks, regulatory milestones, and governance effectiveness by country</a:t>
            </a:r>
            <a:endParaRPr lang="en-US" sz="950" dirty="0"/>
          </a:p>
        </p:txBody>
      </p:sp>
      <p:sp>
        <p:nvSpPr>
          <p:cNvPr id="16" name="Shape 14"/>
          <p:cNvSpPr/>
          <p:nvPr/>
        </p:nvSpPr>
        <p:spPr>
          <a:xfrm>
            <a:off x="4633913" y="3318942"/>
            <a:ext cx="4013895" cy="913135"/>
          </a:xfrm>
          <a:prstGeom prst="roundRect">
            <a:avLst>
              <a:gd name="adj" fmla="val 2038"/>
            </a:avLst>
          </a:prstGeom>
          <a:solidFill>
            <a:srgbClr val="E9ECF2"/>
          </a:solidFill>
          <a:ln/>
        </p:spPr>
      </p:sp>
      <p:sp>
        <p:nvSpPr>
          <p:cNvPr id="17" name="Text 15"/>
          <p:cNvSpPr/>
          <p:nvPr/>
        </p:nvSpPr>
        <p:spPr>
          <a:xfrm>
            <a:off x="4757886" y="344291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Public Surveys</a:t>
            </a:r>
            <a:endParaRPr lang="en-US" sz="1200" dirty="0"/>
          </a:p>
        </p:txBody>
      </p:sp>
      <p:sp>
        <p:nvSpPr>
          <p:cNvPr id="18" name="Text 16"/>
          <p:cNvSpPr/>
          <p:nvPr/>
        </p:nvSpPr>
        <p:spPr>
          <a:xfrm>
            <a:off x="4757886" y="3711178"/>
            <a:ext cx="3765947"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5213F"/>
                </a:solidFill>
                <a:latin typeface="Roboto" pitchFamily="34" charset="0"/>
                <a:ea typeface="Roboto" pitchFamily="34" charset="-122"/>
                <a:cs typeface="Roboto" pitchFamily="34" charset="-120"/>
              </a:rPr>
              <a:t>Demographic data on AI trust, job loss fears, and harm perception across population groups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950119"/>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257B8"/>
                </a:solidFill>
                <a:latin typeface="Roboto Slab" pitchFamily="34" charset="0"/>
                <a:ea typeface="Roboto Slab" pitchFamily="34" charset="-122"/>
                <a:cs typeface="Roboto Slab" pitchFamily="34" charset="-120"/>
              </a:rPr>
              <a:t>Basic Analysis</a:t>
            </a:r>
            <a:endParaRPr lang="en-US" sz="2750" dirty="0"/>
          </a:p>
        </p:txBody>
      </p:sp>
      <p:sp>
        <p:nvSpPr>
          <p:cNvPr id="3" name="Text 1"/>
          <p:cNvSpPr/>
          <p:nvPr/>
        </p:nvSpPr>
        <p:spPr>
          <a:xfrm>
            <a:off x="496119" y="1676623"/>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Initial queries surfaced high-level trends across patents, model popularity, financial risk, and public sentiment.</a:t>
            </a:r>
            <a:endParaRPr lang="en-US" sz="1100" dirty="0"/>
          </a:p>
        </p:txBody>
      </p:sp>
      <p:pic>
        <p:nvPicPr>
          <p:cNvPr id="4" name="Image 0" descr="preencoded.png"/>
          <p:cNvPicPr>
            <a:picLocks noChangeAspect="1"/>
          </p:cNvPicPr>
          <p:nvPr/>
        </p:nvPicPr>
        <p:blipFill>
          <a:blip r:embed="rId3"/>
          <a:stretch>
            <a:fillRect/>
          </a:stretch>
        </p:blipFill>
        <p:spPr>
          <a:xfrm>
            <a:off x="496119" y="2062907"/>
            <a:ext cx="838200" cy="517996"/>
          </a:xfrm>
          <a:prstGeom prst="rect">
            <a:avLst/>
          </a:prstGeom>
        </p:spPr>
      </p:pic>
      <p:sp>
        <p:nvSpPr>
          <p:cNvPr id="5" name="Text 2"/>
          <p:cNvSpPr/>
          <p:nvPr/>
        </p:nvSpPr>
        <p:spPr>
          <a:xfrm>
            <a:off x="496119" y="2758083"/>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AI Patents Leader</a:t>
            </a:r>
            <a:endParaRPr lang="en-US" sz="1350" dirty="0"/>
          </a:p>
        </p:txBody>
      </p:sp>
      <p:sp>
        <p:nvSpPr>
          <p:cNvPr id="6" name="Text 3"/>
          <p:cNvSpPr/>
          <p:nvPr/>
        </p:nvSpPr>
        <p:spPr>
          <a:xfrm>
            <a:off x="496119" y="3064594"/>
            <a:ext cx="1905000"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Identified the country with the highest number of registered AI patents globally</a:t>
            </a:r>
            <a:endParaRPr lang="en-US" sz="1100" dirty="0"/>
          </a:p>
        </p:txBody>
      </p:sp>
      <p:pic>
        <p:nvPicPr>
          <p:cNvPr id="7" name="Image 1" descr="preencoded.png"/>
          <p:cNvPicPr>
            <a:picLocks noChangeAspect="1"/>
          </p:cNvPicPr>
          <p:nvPr/>
        </p:nvPicPr>
        <p:blipFill>
          <a:blip r:embed="rId4"/>
          <a:stretch>
            <a:fillRect/>
          </a:stretch>
        </p:blipFill>
        <p:spPr>
          <a:xfrm>
            <a:off x="2578298" y="2062907"/>
            <a:ext cx="838200" cy="517996"/>
          </a:xfrm>
          <a:prstGeom prst="rect">
            <a:avLst/>
          </a:prstGeom>
        </p:spPr>
      </p:pic>
      <p:sp>
        <p:nvSpPr>
          <p:cNvPr id="8" name="Text 4"/>
          <p:cNvSpPr/>
          <p:nvPr/>
        </p:nvSpPr>
        <p:spPr>
          <a:xfrm>
            <a:off x="2578298" y="2758083"/>
            <a:ext cx="1905074"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Most Popular AI Model</a:t>
            </a:r>
            <a:endParaRPr lang="en-US" sz="1350" dirty="0"/>
          </a:p>
        </p:txBody>
      </p:sp>
      <p:sp>
        <p:nvSpPr>
          <p:cNvPr id="9" name="Text 5"/>
          <p:cNvSpPr/>
          <p:nvPr/>
        </p:nvSpPr>
        <p:spPr>
          <a:xfrm>
            <a:off x="2578298" y="3286051"/>
            <a:ext cx="1905074"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Ranked AI models by download volume to determine the most widely adopted</a:t>
            </a:r>
            <a:endParaRPr lang="en-US" sz="1100" dirty="0"/>
          </a:p>
        </p:txBody>
      </p:sp>
      <p:pic>
        <p:nvPicPr>
          <p:cNvPr id="10" name="Image 2" descr="preencoded.png"/>
          <p:cNvPicPr>
            <a:picLocks noChangeAspect="1"/>
          </p:cNvPicPr>
          <p:nvPr/>
        </p:nvPicPr>
        <p:blipFill>
          <a:blip r:embed="rId5"/>
          <a:stretch>
            <a:fillRect/>
          </a:stretch>
        </p:blipFill>
        <p:spPr>
          <a:xfrm>
            <a:off x="4660553" y="2062907"/>
            <a:ext cx="838200" cy="517996"/>
          </a:xfrm>
          <a:prstGeom prst="rect">
            <a:avLst/>
          </a:prstGeom>
        </p:spPr>
      </p:pic>
      <p:sp>
        <p:nvSpPr>
          <p:cNvPr id="11" name="Text 6"/>
          <p:cNvSpPr/>
          <p:nvPr/>
        </p:nvSpPr>
        <p:spPr>
          <a:xfrm>
            <a:off x="4660553" y="2758083"/>
            <a:ext cx="1905074"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Highest Financial Loss</a:t>
            </a:r>
            <a:endParaRPr lang="en-US" sz="1350" dirty="0"/>
          </a:p>
        </p:txBody>
      </p:sp>
      <p:sp>
        <p:nvSpPr>
          <p:cNvPr id="12" name="Text 7"/>
          <p:cNvSpPr/>
          <p:nvPr/>
        </p:nvSpPr>
        <p:spPr>
          <a:xfrm>
            <a:off x="4660553" y="3286051"/>
            <a:ext cx="1905074"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Pinpointed the country with the greatest financial loss from AI-related incidents</a:t>
            </a:r>
            <a:endParaRPr lang="en-US" sz="1100" dirty="0"/>
          </a:p>
        </p:txBody>
      </p:sp>
      <p:pic>
        <p:nvPicPr>
          <p:cNvPr id="13" name="Image 3" descr="preencoded.png"/>
          <p:cNvPicPr>
            <a:picLocks noChangeAspect="1"/>
          </p:cNvPicPr>
          <p:nvPr/>
        </p:nvPicPr>
        <p:blipFill>
          <a:blip r:embed="rId6"/>
          <a:stretch>
            <a:fillRect/>
          </a:stretch>
        </p:blipFill>
        <p:spPr>
          <a:xfrm>
            <a:off x="6742807" y="2062907"/>
            <a:ext cx="838200" cy="517996"/>
          </a:xfrm>
          <a:prstGeom prst="rect">
            <a:avLst/>
          </a:prstGeom>
        </p:spPr>
      </p:pic>
      <p:sp>
        <p:nvSpPr>
          <p:cNvPr id="14" name="Text 8"/>
          <p:cNvSpPr/>
          <p:nvPr/>
        </p:nvSpPr>
        <p:spPr>
          <a:xfrm>
            <a:off x="6742807" y="2758083"/>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AI Job-Loss Fear</a:t>
            </a:r>
            <a:endParaRPr lang="en-US" sz="1350" dirty="0"/>
          </a:p>
        </p:txBody>
      </p:sp>
      <p:sp>
        <p:nvSpPr>
          <p:cNvPr id="15" name="Text 9"/>
          <p:cNvSpPr/>
          <p:nvPr/>
        </p:nvSpPr>
        <p:spPr>
          <a:xfrm>
            <a:off x="6742807" y="3064594"/>
            <a:ext cx="1905074"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5213F"/>
                </a:solidFill>
                <a:latin typeface="Roboto" pitchFamily="34" charset="0"/>
                <a:ea typeface="Roboto" pitchFamily="34" charset="-122"/>
                <a:cs typeface="Roboto" pitchFamily="34" charset="-120"/>
              </a:rPr>
              <a:t>Determined which demographic group reported the highest fear of AI-driven job displacement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58155"/>
            <a:ext cx="4976961" cy="333077"/>
          </a:xfrm>
          <a:prstGeom prst="rect">
            <a:avLst/>
          </a:prstGeom>
          <a:noFill/>
          <a:ln/>
        </p:spPr>
        <p:txBody>
          <a:bodyPr wrap="none" lIns="0" tIns="0" rIns="0" bIns="0" rtlCol="0" anchor="t"/>
          <a:lstStyle/>
          <a:p>
            <a:pPr marL="0" indent="0" algn="l">
              <a:lnSpc>
                <a:spcPct val="104000"/>
              </a:lnSpc>
              <a:buNone/>
            </a:pPr>
            <a:r>
              <a:rPr lang="en-US" sz="2050" dirty="0">
                <a:solidFill>
                  <a:srgbClr val="3257B8"/>
                </a:solidFill>
                <a:latin typeface="Roboto Slab" pitchFamily="34" charset="0"/>
                <a:ea typeface="Roboto Slab" pitchFamily="34" charset="-122"/>
                <a:cs typeface="Roboto Slab" pitchFamily="34" charset="-120"/>
              </a:rPr>
              <a:t>Advanced Analysis: Deeper Insights</a:t>
            </a:r>
            <a:endParaRPr lang="en-US" sz="2050" dirty="0"/>
          </a:p>
        </p:txBody>
      </p:sp>
      <p:sp>
        <p:nvSpPr>
          <p:cNvPr id="3" name="Text 1"/>
          <p:cNvSpPr/>
          <p:nvPr/>
        </p:nvSpPr>
        <p:spPr>
          <a:xfrm>
            <a:off x="496119" y="874440"/>
            <a:ext cx="8608963" cy="158576"/>
          </a:xfrm>
          <a:prstGeom prst="rect">
            <a:avLst/>
          </a:prstGeom>
          <a:noFill/>
          <a:ln/>
        </p:spPr>
        <p:txBody>
          <a:bodyPr wrap="none" lIns="0" tIns="0" rIns="0" bIns="0" rtlCol="0" anchor="t"/>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The advanced phase combined multiple tables and complex SQL logic to explore ten interconnected dimensions of global AI adoption, risk, and governance.</a:t>
            </a:r>
            <a:endParaRPr lang="en-US" sz="800" dirty="0"/>
          </a:p>
        </p:txBody>
      </p:sp>
      <p:sp>
        <p:nvSpPr>
          <p:cNvPr id="4" name="Shape 2"/>
          <p:cNvSpPr/>
          <p:nvPr/>
        </p:nvSpPr>
        <p:spPr>
          <a:xfrm>
            <a:off x="496119" y="1136005"/>
            <a:ext cx="4030042" cy="751731"/>
          </a:xfrm>
          <a:prstGeom prst="roundRect">
            <a:avLst>
              <a:gd name="adj" fmla="val 2127"/>
            </a:avLst>
          </a:prstGeom>
          <a:solidFill>
            <a:srgbClr val="E9ECF2"/>
          </a:solidFill>
          <a:ln/>
        </p:spPr>
      </p:sp>
      <p:sp>
        <p:nvSpPr>
          <p:cNvPr id="5" name="Text 3"/>
          <p:cNvSpPr/>
          <p:nvPr/>
        </p:nvSpPr>
        <p:spPr>
          <a:xfrm>
            <a:off x="602679" y="1242566"/>
            <a:ext cx="1673423"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Readiness &amp; Infrastructure</a:t>
            </a:r>
            <a:endParaRPr lang="en-US" sz="1000" dirty="0"/>
          </a:p>
        </p:txBody>
      </p:sp>
      <p:sp>
        <p:nvSpPr>
          <p:cNvPr id="6" name="Text 4"/>
          <p:cNvSpPr/>
          <p:nvPr/>
        </p:nvSpPr>
        <p:spPr>
          <a:xfrm>
            <a:off x="602679" y="1464022"/>
            <a:ext cx="3816921"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AI readiness scores correlated with cloud infrastructure investment across nations</a:t>
            </a:r>
            <a:endParaRPr lang="en-US" sz="800" dirty="0"/>
          </a:p>
        </p:txBody>
      </p:sp>
      <p:sp>
        <p:nvSpPr>
          <p:cNvPr id="7" name="Shape 5"/>
          <p:cNvSpPr/>
          <p:nvPr/>
        </p:nvSpPr>
        <p:spPr>
          <a:xfrm>
            <a:off x="4617765" y="1136005"/>
            <a:ext cx="4030117" cy="751731"/>
          </a:xfrm>
          <a:prstGeom prst="roundRect">
            <a:avLst>
              <a:gd name="adj" fmla="val 2127"/>
            </a:avLst>
          </a:prstGeom>
          <a:solidFill>
            <a:srgbClr val="E9ECF2"/>
          </a:solidFill>
          <a:ln/>
        </p:spPr>
      </p:sp>
      <p:sp>
        <p:nvSpPr>
          <p:cNvPr id="8" name="Text 6"/>
          <p:cNvSpPr/>
          <p:nvPr/>
        </p:nvSpPr>
        <p:spPr>
          <a:xfrm>
            <a:off x="4724326" y="1242566"/>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Competitiveness</a:t>
            </a:r>
            <a:endParaRPr lang="en-US" sz="1000" dirty="0"/>
          </a:p>
        </p:txBody>
      </p:sp>
      <p:sp>
        <p:nvSpPr>
          <p:cNvPr id="9" name="Text 7"/>
          <p:cNvSpPr/>
          <p:nvPr/>
        </p:nvSpPr>
        <p:spPr>
          <a:xfrm>
            <a:off x="4724326" y="1464022"/>
            <a:ext cx="3816995" cy="158576"/>
          </a:xfrm>
          <a:prstGeom prst="rect">
            <a:avLst/>
          </a:prstGeom>
          <a:noFill/>
          <a:ln/>
        </p:spPr>
        <p:txBody>
          <a:bodyPr wrap="none" lIns="0" tIns="0" rIns="0" bIns="0" rtlCol="0" anchor="t"/>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Comparative AI competitiveness rankings across countries and regions</a:t>
            </a:r>
            <a:endParaRPr lang="en-US" sz="800" dirty="0"/>
          </a:p>
        </p:txBody>
      </p:sp>
      <p:sp>
        <p:nvSpPr>
          <p:cNvPr id="10" name="Shape 8"/>
          <p:cNvSpPr/>
          <p:nvPr/>
        </p:nvSpPr>
        <p:spPr>
          <a:xfrm>
            <a:off x="496119" y="1979340"/>
            <a:ext cx="4030042" cy="593154"/>
          </a:xfrm>
          <a:prstGeom prst="roundRect">
            <a:avLst>
              <a:gd name="adj" fmla="val 2696"/>
            </a:avLst>
          </a:prstGeom>
          <a:solidFill>
            <a:srgbClr val="E9ECF2"/>
          </a:solidFill>
          <a:ln/>
        </p:spPr>
      </p:sp>
      <p:sp>
        <p:nvSpPr>
          <p:cNvPr id="11" name="Text 9"/>
          <p:cNvSpPr/>
          <p:nvPr/>
        </p:nvSpPr>
        <p:spPr>
          <a:xfrm>
            <a:off x="602679" y="2085901"/>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Financial Risk</a:t>
            </a:r>
            <a:endParaRPr lang="en-US" sz="1000" dirty="0"/>
          </a:p>
        </p:txBody>
      </p:sp>
      <p:sp>
        <p:nvSpPr>
          <p:cNvPr id="12" name="Text 10"/>
          <p:cNvSpPr/>
          <p:nvPr/>
        </p:nvSpPr>
        <p:spPr>
          <a:xfrm>
            <a:off x="602679" y="2307357"/>
            <a:ext cx="3816921" cy="158576"/>
          </a:xfrm>
          <a:prstGeom prst="rect">
            <a:avLst/>
          </a:prstGeom>
          <a:noFill/>
          <a:ln/>
        </p:spPr>
        <p:txBody>
          <a:bodyPr wrap="none" lIns="0" tIns="0" rIns="0" bIns="0" rtlCol="0" anchor="t"/>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Relationship between AI adoption levels and incident-related financial exposure</a:t>
            </a:r>
            <a:endParaRPr lang="en-US" sz="800" dirty="0"/>
          </a:p>
        </p:txBody>
      </p:sp>
      <p:sp>
        <p:nvSpPr>
          <p:cNvPr id="13" name="Shape 11"/>
          <p:cNvSpPr/>
          <p:nvPr/>
        </p:nvSpPr>
        <p:spPr>
          <a:xfrm>
            <a:off x="4617765" y="1979340"/>
            <a:ext cx="4030117" cy="593154"/>
          </a:xfrm>
          <a:prstGeom prst="roundRect">
            <a:avLst>
              <a:gd name="adj" fmla="val 2696"/>
            </a:avLst>
          </a:prstGeom>
          <a:solidFill>
            <a:srgbClr val="E9ECF2"/>
          </a:solidFill>
          <a:ln/>
        </p:spPr>
      </p:sp>
      <p:sp>
        <p:nvSpPr>
          <p:cNvPr id="14" name="Text 12"/>
          <p:cNvSpPr/>
          <p:nvPr/>
        </p:nvSpPr>
        <p:spPr>
          <a:xfrm>
            <a:off x="4724326" y="2085901"/>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Trust &amp; Employment</a:t>
            </a:r>
            <a:endParaRPr lang="en-US" sz="1000" dirty="0"/>
          </a:p>
        </p:txBody>
      </p:sp>
      <p:sp>
        <p:nvSpPr>
          <p:cNvPr id="15" name="Text 13"/>
          <p:cNvSpPr/>
          <p:nvPr/>
        </p:nvSpPr>
        <p:spPr>
          <a:xfrm>
            <a:off x="4724326" y="2307357"/>
            <a:ext cx="3816995" cy="158576"/>
          </a:xfrm>
          <a:prstGeom prst="rect">
            <a:avLst/>
          </a:prstGeom>
          <a:noFill/>
          <a:ln/>
        </p:spPr>
        <p:txBody>
          <a:bodyPr wrap="none" lIns="0" tIns="0" rIns="0" bIns="0" rtlCol="0" anchor="t"/>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Public trust levels, job loss fears, and their link to adoption rates</a:t>
            </a:r>
            <a:endParaRPr lang="en-US" sz="800" dirty="0"/>
          </a:p>
        </p:txBody>
      </p:sp>
      <p:sp>
        <p:nvSpPr>
          <p:cNvPr id="16" name="Shape 14"/>
          <p:cNvSpPr/>
          <p:nvPr/>
        </p:nvSpPr>
        <p:spPr>
          <a:xfrm>
            <a:off x="496119" y="2664098"/>
            <a:ext cx="4030042" cy="593154"/>
          </a:xfrm>
          <a:prstGeom prst="roundRect">
            <a:avLst>
              <a:gd name="adj" fmla="val 2696"/>
            </a:avLst>
          </a:prstGeom>
          <a:solidFill>
            <a:srgbClr val="E9ECF2"/>
          </a:solidFill>
          <a:ln/>
        </p:spPr>
      </p:sp>
      <p:sp>
        <p:nvSpPr>
          <p:cNvPr id="17" name="Text 15"/>
          <p:cNvSpPr/>
          <p:nvPr/>
        </p:nvSpPr>
        <p:spPr>
          <a:xfrm>
            <a:off x="602679" y="2770659"/>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Regulation &amp; Policy</a:t>
            </a:r>
            <a:endParaRPr lang="en-US" sz="1000" dirty="0"/>
          </a:p>
        </p:txBody>
      </p:sp>
      <p:sp>
        <p:nvSpPr>
          <p:cNvPr id="18" name="Text 16"/>
          <p:cNvSpPr/>
          <p:nvPr/>
        </p:nvSpPr>
        <p:spPr>
          <a:xfrm>
            <a:off x="602679" y="2992115"/>
            <a:ext cx="3816921" cy="158576"/>
          </a:xfrm>
          <a:prstGeom prst="rect">
            <a:avLst/>
          </a:prstGeom>
          <a:noFill/>
          <a:ln/>
        </p:spPr>
        <p:txBody>
          <a:bodyPr wrap="none" lIns="0" tIns="0" rIns="0" bIns="0" rtlCol="0" anchor="t"/>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AI regulatory frameworks assessed for policy effectiveness by country</a:t>
            </a:r>
            <a:endParaRPr lang="en-US" sz="800" dirty="0"/>
          </a:p>
        </p:txBody>
      </p:sp>
      <p:sp>
        <p:nvSpPr>
          <p:cNvPr id="19" name="Shape 17"/>
          <p:cNvSpPr/>
          <p:nvPr/>
        </p:nvSpPr>
        <p:spPr>
          <a:xfrm>
            <a:off x="4617765" y="2664098"/>
            <a:ext cx="4030117" cy="593154"/>
          </a:xfrm>
          <a:prstGeom prst="roundRect">
            <a:avLst>
              <a:gd name="adj" fmla="val 2696"/>
            </a:avLst>
          </a:prstGeom>
          <a:solidFill>
            <a:srgbClr val="E9ECF2"/>
          </a:solidFill>
          <a:ln/>
        </p:spPr>
      </p:sp>
      <p:sp>
        <p:nvSpPr>
          <p:cNvPr id="20" name="Text 18"/>
          <p:cNvSpPr/>
          <p:nvPr/>
        </p:nvSpPr>
        <p:spPr>
          <a:xfrm>
            <a:off x="4724326" y="2770659"/>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Employment Impact</a:t>
            </a:r>
            <a:endParaRPr lang="en-US" sz="1000" dirty="0"/>
          </a:p>
        </p:txBody>
      </p:sp>
      <p:sp>
        <p:nvSpPr>
          <p:cNvPr id="21" name="Text 19"/>
          <p:cNvSpPr/>
          <p:nvPr/>
        </p:nvSpPr>
        <p:spPr>
          <a:xfrm>
            <a:off x="4724326" y="2992115"/>
            <a:ext cx="3816995" cy="158576"/>
          </a:xfrm>
          <a:prstGeom prst="rect">
            <a:avLst/>
          </a:prstGeom>
          <a:noFill/>
          <a:ln/>
        </p:spPr>
        <p:txBody>
          <a:bodyPr wrap="none" lIns="0" tIns="0" rIns="0" bIns="0" rtlCol="0" anchor="t"/>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AI's measurable effect on employment patterns and economic indicators</a:t>
            </a:r>
            <a:endParaRPr lang="en-US" sz="800" dirty="0"/>
          </a:p>
        </p:txBody>
      </p:sp>
      <p:sp>
        <p:nvSpPr>
          <p:cNvPr id="22" name="Shape 20"/>
          <p:cNvSpPr/>
          <p:nvPr/>
        </p:nvSpPr>
        <p:spPr>
          <a:xfrm>
            <a:off x="496119" y="3348856"/>
            <a:ext cx="4030042" cy="751731"/>
          </a:xfrm>
          <a:prstGeom prst="roundRect">
            <a:avLst>
              <a:gd name="adj" fmla="val 2127"/>
            </a:avLst>
          </a:prstGeom>
          <a:solidFill>
            <a:srgbClr val="E9ECF2"/>
          </a:solidFill>
          <a:ln/>
        </p:spPr>
      </p:sp>
      <p:sp>
        <p:nvSpPr>
          <p:cNvPr id="23" name="Text 21"/>
          <p:cNvSpPr/>
          <p:nvPr/>
        </p:nvSpPr>
        <p:spPr>
          <a:xfrm>
            <a:off x="602679" y="3455417"/>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Digital Divide</a:t>
            </a:r>
            <a:endParaRPr lang="en-US" sz="1000" dirty="0"/>
          </a:p>
        </p:txBody>
      </p:sp>
      <p:sp>
        <p:nvSpPr>
          <p:cNvPr id="24" name="Text 22"/>
          <p:cNvSpPr/>
          <p:nvPr/>
        </p:nvSpPr>
        <p:spPr>
          <a:xfrm>
            <a:off x="602679" y="3676873"/>
            <a:ext cx="3816921" cy="158576"/>
          </a:xfrm>
          <a:prstGeom prst="rect">
            <a:avLst/>
          </a:prstGeom>
          <a:noFill/>
          <a:ln/>
        </p:spPr>
        <p:txBody>
          <a:bodyPr wrap="none" lIns="0" tIns="0" rIns="0" bIns="0" rtlCol="0" anchor="t"/>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Gap between high- and low-adoption countries and its structural causes</a:t>
            </a:r>
            <a:endParaRPr lang="en-US" sz="800" dirty="0"/>
          </a:p>
        </p:txBody>
      </p:sp>
      <p:sp>
        <p:nvSpPr>
          <p:cNvPr id="25" name="Shape 23"/>
          <p:cNvSpPr/>
          <p:nvPr/>
        </p:nvSpPr>
        <p:spPr>
          <a:xfrm>
            <a:off x="4617765" y="3348856"/>
            <a:ext cx="4030117" cy="751731"/>
          </a:xfrm>
          <a:prstGeom prst="roundRect">
            <a:avLst>
              <a:gd name="adj" fmla="val 2127"/>
            </a:avLst>
          </a:prstGeom>
          <a:solidFill>
            <a:srgbClr val="E9ECF2"/>
          </a:solidFill>
          <a:ln/>
        </p:spPr>
      </p:sp>
      <p:sp>
        <p:nvSpPr>
          <p:cNvPr id="26" name="Text 24"/>
          <p:cNvSpPr/>
          <p:nvPr/>
        </p:nvSpPr>
        <p:spPr>
          <a:xfrm>
            <a:off x="4724326" y="3455417"/>
            <a:ext cx="1593131"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Harm Reports vs Records</a:t>
            </a:r>
            <a:endParaRPr lang="en-US" sz="1000" dirty="0"/>
          </a:p>
        </p:txBody>
      </p:sp>
      <p:sp>
        <p:nvSpPr>
          <p:cNvPr id="27" name="Text 25"/>
          <p:cNvSpPr/>
          <p:nvPr/>
        </p:nvSpPr>
        <p:spPr>
          <a:xfrm>
            <a:off x="4724326" y="3676873"/>
            <a:ext cx="3816995"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Discrepancy analysis between public AI harm reports and official incident records</a:t>
            </a:r>
            <a:endParaRPr lang="en-US" sz="800" dirty="0"/>
          </a:p>
        </p:txBody>
      </p:sp>
      <p:sp>
        <p:nvSpPr>
          <p:cNvPr id="28" name="Shape 26"/>
          <p:cNvSpPr/>
          <p:nvPr/>
        </p:nvSpPr>
        <p:spPr>
          <a:xfrm>
            <a:off x="496119" y="4192191"/>
            <a:ext cx="4030042" cy="593154"/>
          </a:xfrm>
          <a:prstGeom prst="roundRect">
            <a:avLst>
              <a:gd name="adj" fmla="val 2696"/>
            </a:avLst>
          </a:prstGeom>
          <a:solidFill>
            <a:srgbClr val="E9ECF2"/>
          </a:solidFill>
          <a:ln/>
        </p:spPr>
      </p:sp>
      <p:sp>
        <p:nvSpPr>
          <p:cNvPr id="29" name="Text 27"/>
          <p:cNvSpPr/>
          <p:nvPr/>
        </p:nvSpPr>
        <p:spPr>
          <a:xfrm>
            <a:off x="602679" y="4298752"/>
            <a:ext cx="1630487"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Incident Financial Impact</a:t>
            </a:r>
            <a:endParaRPr lang="en-US" sz="1000" dirty="0"/>
          </a:p>
        </p:txBody>
      </p:sp>
      <p:sp>
        <p:nvSpPr>
          <p:cNvPr id="30" name="Text 28"/>
          <p:cNvSpPr/>
          <p:nvPr/>
        </p:nvSpPr>
        <p:spPr>
          <a:xfrm>
            <a:off x="602679" y="4520208"/>
            <a:ext cx="3816921" cy="158576"/>
          </a:xfrm>
          <a:prstGeom prst="rect">
            <a:avLst/>
          </a:prstGeom>
          <a:noFill/>
          <a:ln/>
        </p:spPr>
        <p:txBody>
          <a:bodyPr wrap="none" lIns="0" tIns="0" rIns="0" bIns="0" rtlCol="0" anchor="t"/>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Financial breakdown by AI incident type to identify highest-cost categories</a:t>
            </a:r>
            <a:endParaRPr lang="en-US" sz="800" dirty="0"/>
          </a:p>
        </p:txBody>
      </p:sp>
      <p:sp>
        <p:nvSpPr>
          <p:cNvPr id="31" name="Shape 29"/>
          <p:cNvSpPr/>
          <p:nvPr/>
        </p:nvSpPr>
        <p:spPr>
          <a:xfrm>
            <a:off x="4617765" y="4192191"/>
            <a:ext cx="4030117" cy="593154"/>
          </a:xfrm>
          <a:prstGeom prst="roundRect">
            <a:avLst>
              <a:gd name="adj" fmla="val 2696"/>
            </a:avLst>
          </a:prstGeom>
          <a:solidFill>
            <a:srgbClr val="E9ECF2"/>
          </a:solidFill>
          <a:ln/>
        </p:spPr>
      </p:sp>
      <p:sp>
        <p:nvSpPr>
          <p:cNvPr id="32" name="Text 30"/>
          <p:cNvSpPr/>
          <p:nvPr/>
        </p:nvSpPr>
        <p:spPr>
          <a:xfrm>
            <a:off x="4724326" y="4298752"/>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15213F"/>
                </a:solidFill>
                <a:latin typeface="Roboto Slab" pitchFamily="34" charset="0"/>
                <a:ea typeface="Roboto Slab" pitchFamily="34" charset="-122"/>
                <a:cs typeface="Roboto Slab" pitchFamily="34" charset="-120"/>
              </a:rPr>
              <a:t>Overall Performance</a:t>
            </a:r>
            <a:endParaRPr lang="en-US" sz="1000" dirty="0"/>
          </a:p>
        </p:txBody>
      </p:sp>
      <p:sp>
        <p:nvSpPr>
          <p:cNvPr id="33" name="Text 31"/>
          <p:cNvSpPr/>
          <p:nvPr/>
        </p:nvSpPr>
        <p:spPr>
          <a:xfrm>
            <a:off x="4724326" y="4520208"/>
            <a:ext cx="3816995" cy="158576"/>
          </a:xfrm>
          <a:prstGeom prst="rect">
            <a:avLst/>
          </a:prstGeom>
          <a:noFill/>
          <a:ln/>
        </p:spPr>
        <p:txBody>
          <a:bodyPr wrap="none" lIns="0" tIns="0" rIns="0" bIns="0" rtlCol="0" anchor="t"/>
          <a:lstStyle/>
          <a:p>
            <a:pPr marL="0" indent="0" algn="l">
              <a:lnSpc>
                <a:spcPct val="124000"/>
              </a:lnSpc>
              <a:buNone/>
            </a:pPr>
            <a:r>
              <a:rPr lang="en-US" sz="800" dirty="0">
                <a:solidFill>
                  <a:srgbClr val="15213F"/>
                </a:solidFill>
                <a:latin typeface="Roboto" pitchFamily="34" charset="0"/>
                <a:ea typeface="Roboto" pitchFamily="34" charset="-122"/>
                <a:cs typeface="Roboto" pitchFamily="34" charset="-120"/>
              </a:rPr>
              <a:t>Composite country performance scores across all measured AI dimensions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367159"/>
            <a:ext cx="3364483" cy="363364"/>
          </a:xfrm>
          <a:prstGeom prst="rect">
            <a:avLst/>
          </a:prstGeom>
          <a:noFill/>
          <a:ln/>
        </p:spPr>
        <p:txBody>
          <a:bodyPr wrap="none" lIns="0" tIns="0" rIns="0" bIns="0" rtlCol="0" anchor="t"/>
          <a:lstStyle/>
          <a:p>
            <a:pPr marL="0" indent="0" algn="l">
              <a:lnSpc>
                <a:spcPct val="104000"/>
              </a:lnSpc>
              <a:buNone/>
            </a:pPr>
            <a:r>
              <a:rPr lang="en-US" sz="2250" dirty="0">
                <a:solidFill>
                  <a:srgbClr val="3257B8"/>
                </a:solidFill>
                <a:latin typeface="Roboto Slab" pitchFamily="34" charset="0"/>
                <a:ea typeface="Roboto Slab" pitchFamily="34" charset="-122"/>
                <a:cs typeface="Roboto Slab" pitchFamily="34" charset="-120"/>
              </a:rPr>
              <a:t>Key Findings</a:t>
            </a:r>
            <a:endParaRPr lang="en-US" sz="2250" dirty="0"/>
          </a:p>
        </p:txBody>
      </p:sp>
      <p:sp>
        <p:nvSpPr>
          <p:cNvPr id="3" name="Text 1"/>
          <p:cNvSpPr/>
          <p:nvPr/>
        </p:nvSpPr>
        <p:spPr>
          <a:xfrm>
            <a:off x="496119" y="948556"/>
            <a:ext cx="8151763"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15213F"/>
                </a:solidFill>
                <a:latin typeface="Roboto" pitchFamily="34" charset="0"/>
                <a:ea typeface="Roboto" pitchFamily="34" charset="-122"/>
                <a:cs typeface="Roboto" pitchFamily="34" charset="-120"/>
              </a:rPr>
              <a:t>The analysis surfaced clear global patterns in AI innovation, risk, and readiness — with distinct regional leaders and notable disparities in adoption and governance.</a:t>
            </a:r>
            <a:endParaRPr lang="en-US" sz="900" dirty="0"/>
          </a:p>
        </p:txBody>
      </p:sp>
      <p:sp>
        <p:nvSpPr>
          <p:cNvPr id="4" name="Text 2"/>
          <p:cNvSpPr/>
          <p:nvPr/>
        </p:nvSpPr>
        <p:spPr>
          <a:xfrm>
            <a:off x="496119" y="1489770"/>
            <a:ext cx="4007718" cy="383753"/>
          </a:xfrm>
          <a:prstGeom prst="rect">
            <a:avLst/>
          </a:prstGeom>
          <a:noFill/>
          <a:ln/>
        </p:spPr>
        <p:txBody>
          <a:bodyPr wrap="none" lIns="0" tIns="0" rIns="0" bIns="0" rtlCol="0" anchor="t"/>
          <a:lstStyle/>
          <a:p>
            <a:pPr marL="0" indent="0" algn="ctr">
              <a:lnSpc>
                <a:spcPct val="83000"/>
              </a:lnSpc>
              <a:buNone/>
            </a:pPr>
            <a:r>
              <a:rPr lang="en-US" sz="3000" dirty="0">
                <a:solidFill>
                  <a:srgbClr val="15213F"/>
                </a:solidFill>
                <a:latin typeface="Roboto Slab" pitchFamily="34" charset="0"/>
                <a:ea typeface="Roboto Slab" pitchFamily="34" charset="-122"/>
                <a:cs typeface="Roboto Slab" pitchFamily="34" charset="-120"/>
              </a:rPr>
              <a:t>1</a:t>
            </a:r>
            <a:endParaRPr lang="en-US" sz="3000" dirty="0"/>
          </a:p>
        </p:txBody>
      </p:sp>
      <p:sp>
        <p:nvSpPr>
          <p:cNvPr id="5" name="Text 3"/>
          <p:cNvSpPr/>
          <p:nvPr/>
        </p:nvSpPr>
        <p:spPr>
          <a:xfrm>
            <a:off x="1575643" y="2013347"/>
            <a:ext cx="1848669" cy="181645"/>
          </a:xfrm>
          <a:prstGeom prst="rect">
            <a:avLst/>
          </a:prstGeom>
          <a:noFill/>
          <a:ln/>
        </p:spPr>
        <p:txBody>
          <a:bodyPr wrap="none" lIns="0" tIns="0" rIns="0" bIns="0" rtlCol="0" anchor="t"/>
          <a:lstStyle/>
          <a:p>
            <a:pPr marL="0" indent="0" algn="ctr">
              <a:lnSpc>
                <a:spcPct val="104000"/>
              </a:lnSpc>
              <a:buNone/>
            </a:pPr>
            <a:r>
              <a:rPr lang="en-US" sz="1100" dirty="0">
                <a:solidFill>
                  <a:srgbClr val="15213F"/>
                </a:solidFill>
                <a:latin typeface="Roboto Slab" pitchFamily="34" charset="0"/>
                <a:ea typeface="Roboto Slab" pitchFamily="34" charset="-122"/>
                <a:cs typeface="Roboto Slab" pitchFamily="34" charset="-120"/>
              </a:rPr>
              <a:t>China — Innovation Leader</a:t>
            </a:r>
            <a:endParaRPr lang="en-US" sz="1100" dirty="0"/>
          </a:p>
        </p:txBody>
      </p:sp>
      <p:sp>
        <p:nvSpPr>
          <p:cNvPr id="6" name="Text 4"/>
          <p:cNvSpPr/>
          <p:nvPr/>
        </p:nvSpPr>
        <p:spPr>
          <a:xfrm>
            <a:off x="496119" y="2260402"/>
            <a:ext cx="4007718" cy="360462"/>
          </a:xfrm>
          <a:prstGeom prst="rect">
            <a:avLst/>
          </a:prstGeom>
          <a:noFill/>
          <a:ln/>
        </p:spPr>
        <p:txBody>
          <a:bodyPr wrap="square" lIns="0" tIns="0" rIns="0" bIns="0" rtlCol="0" anchor="t">
            <a:normAutofit/>
          </a:bodyPr>
          <a:lstStyle/>
          <a:p>
            <a:pPr marL="0" indent="0" algn="ctr">
              <a:lnSpc>
                <a:spcPct val="129000"/>
              </a:lnSpc>
              <a:buNone/>
            </a:pPr>
            <a:r>
              <a:rPr lang="en-US" sz="900" dirty="0">
                <a:solidFill>
                  <a:srgbClr val="15213F"/>
                </a:solidFill>
                <a:latin typeface="Roboto" pitchFamily="34" charset="0"/>
                <a:ea typeface="Roboto" pitchFamily="34" charset="-122"/>
                <a:cs typeface="Roboto" pitchFamily="34" charset="-120"/>
              </a:rPr>
              <a:t>China leads globally in AI patents and model development, reflecting sustained government and private-sector investment in AI research.</a:t>
            </a:r>
            <a:endParaRPr lang="en-US" sz="900" dirty="0"/>
          </a:p>
        </p:txBody>
      </p:sp>
      <p:sp>
        <p:nvSpPr>
          <p:cNvPr id="7" name="Text 5"/>
          <p:cNvSpPr/>
          <p:nvPr/>
        </p:nvSpPr>
        <p:spPr>
          <a:xfrm>
            <a:off x="4640089" y="1489770"/>
            <a:ext cx="4007793" cy="383753"/>
          </a:xfrm>
          <a:prstGeom prst="rect">
            <a:avLst/>
          </a:prstGeom>
          <a:noFill/>
          <a:ln/>
        </p:spPr>
        <p:txBody>
          <a:bodyPr wrap="none" lIns="0" tIns="0" rIns="0" bIns="0" rtlCol="0" anchor="t"/>
          <a:lstStyle/>
          <a:p>
            <a:pPr marL="0" indent="0" algn="ctr">
              <a:lnSpc>
                <a:spcPct val="83000"/>
              </a:lnSpc>
              <a:buNone/>
            </a:pPr>
            <a:r>
              <a:rPr lang="en-US" sz="3000" dirty="0">
                <a:solidFill>
                  <a:srgbClr val="15213F"/>
                </a:solidFill>
                <a:latin typeface="Roboto Slab" pitchFamily="34" charset="0"/>
                <a:ea typeface="Roboto Slab" pitchFamily="34" charset="-122"/>
                <a:cs typeface="Roboto Slab" pitchFamily="34" charset="-120"/>
              </a:rPr>
              <a:t>2</a:t>
            </a:r>
            <a:endParaRPr lang="en-US" sz="3000" dirty="0"/>
          </a:p>
        </p:txBody>
      </p:sp>
      <p:sp>
        <p:nvSpPr>
          <p:cNvPr id="8" name="Text 6"/>
          <p:cNvSpPr/>
          <p:nvPr/>
        </p:nvSpPr>
        <p:spPr>
          <a:xfrm>
            <a:off x="5701308" y="2013347"/>
            <a:ext cx="1885355" cy="181645"/>
          </a:xfrm>
          <a:prstGeom prst="rect">
            <a:avLst/>
          </a:prstGeom>
          <a:noFill/>
          <a:ln/>
        </p:spPr>
        <p:txBody>
          <a:bodyPr wrap="none" lIns="0" tIns="0" rIns="0" bIns="0" rtlCol="0" anchor="t"/>
          <a:lstStyle/>
          <a:p>
            <a:pPr marL="0" indent="0" algn="ctr">
              <a:lnSpc>
                <a:spcPct val="104000"/>
              </a:lnSpc>
              <a:buNone/>
            </a:pPr>
            <a:r>
              <a:rPr lang="en-US" sz="1100" dirty="0">
                <a:solidFill>
                  <a:srgbClr val="15213F"/>
                </a:solidFill>
                <a:latin typeface="Roboto Slab" pitchFamily="34" charset="0"/>
                <a:ea typeface="Roboto Slab" pitchFamily="34" charset="-122"/>
                <a:cs typeface="Roboto Slab" pitchFamily="34" charset="-120"/>
              </a:rPr>
              <a:t>Stable Audio 2 — Top Model</a:t>
            </a:r>
            <a:endParaRPr lang="en-US" sz="1100" dirty="0"/>
          </a:p>
        </p:txBody>
      </p:sp>
      <p:sp>
        <p:nvSpPr>
          <p:cNvPr id="9" name="Text 7"/>
          <p:cNvSpPr/>
          <p:nvPr/>
        </p:nvSpPr>
        <p:spPr>
          <a:xfrm>
            <a:off x="4640089" y="2260402"/>
            <a:ext cx="4007793" cy="360462"/>
          </a:xfrm>
          <a:prstGeom prst="rect">
            <a:avLst/>
          </a:prstGeom>
          <a:noFill/>
          <a:ln/>
        </p:spPr>
        <p:txBody>
          <a:bodyPr wrap="square" lIns="0" tIns="0" rIns="0" bIns="0" rtlCol="0" anchor="t">
            <a:normAutofit/>
          </a:bodyPr>
          <a:lstStyle/>
          <a:p>
            <a:pPr marL="0" indent="0" algn="ctr">
              <a:lnSpc>
                <a:spcPct val="129000"/>
              </a:lnSpc>
              <a:buNone/>
            </a:pPr>
            <a:r>
              <a:rPr lang="en-US" sz="900" dirty="0">
                <a:solidFill>
                  <a:srgbClr val="15213F"/>
                </a:solidFill>
                <a:latin typeface="Roboto" pitchFamily="34" charset="0"/>
                <a:ea typeface="Roboto" pitchFamily="34" charset="-122"/>
                <a:cs typeface="Roboto" pitchFamily="34" charset="-120"/>
              </a:rPr>
              <a:t>Stable Audio 2 recorded the highest download count among all AI models analyzed, indicating strong demand for generative audio tools.</a:t>
            </a:r>
            <a:endParaRPr lang="en-US" sz="900" dirty="0"/>
          </a:p>
        </p:txBody>
      </p:sp>
      <p:sp>
        <p:nvSpPr>
          <p:cNvPr id="10" name="Text 8"/>
          <p:cNvSpPr/>
          <p:nvPr/>
        </p:nvSpPr>
        <p:spPr>
          <a:xfrm>
            <a:off x="496119" y="2897014"/>
            <a:ext cx="4007718" cy="383753"/>
          </a:xfrm>
          <a:prstGeom prst="rect">
            <a:avLst/>
          </a:prstGeom>
          <a:noFill/>
          <a:ln/>
        </p:spPr>
        <p:txBody>
          <a:bodyPr wrap="none" lIns="0" tIns="0" rIns="0" bIns="0" rtlCol="0" anchor="t"/>
          <a:lstStyle/>
          <a:p>
            <a:pPr marL="0" indent="0" algn="ctr">
              <a:lnSpc>
                <a:spcPct val="83000"/>
              </a:lnSpc>
              <a:buNone/>
            </a:pPr>
            <a:r>
              <a:rPr lang="en-US" sz="3000" dirty="0">
                <a:solidFill>
                  <a:srgbClr val="15213F"/>
                </a:solidFill>
                <a:latin typeface="Roboto Slab" pitchFamily="34" charset="0"/>
                <a:ea typeface="Roboto Slab" pitchFamily="34" charset="-122"/>
                <a:cs typeface="Roboto Slab" pitchFamily="34" charset="-120"/>
              </a:rPr>
              <a:t>3</a:t>
            </a:r>
            <a:endParaRPr lang="en-US" sz="3000" dirty="0"/>
          </a:p>
        </p:txBody>
      </p:sp>
      <p:sp>
        <p:nvSpPr>
          <p:cNvPr id="11" name="Text 9"/>
          <p:cNvSpPr/>
          <p:nvPr/>
        </p:nvSpPr>
        <p:spPr>
          <a:xfrm>
            <a:off x="1525935" y="3420591"/>
            <a:ext cx="1948011" cy="181645"/>
          </a:xfrm>
          <a:prstGeom prst="rect">
            <a:avLst/>
          </a:prstGeom>
          <a:noFill/>
          <a:ln/>
        </p:spPr>
        <p:txBody>
          <a:bodyPr wrap="none" lIns="0" tIns="0" rIns="0" bIns="0" rtlCol="0" anchor="t"/>
          <a:lstStyle/>
          <a:p>
            <a:pPr marL="0" indent="0" algn="ctr">
              <a:lnSpc>
                <a:spcPct val="104000"/>
              </a:lnSpc>
              <a:buNone/>
            </a:pPr>
            <a:r>
              <a:rPr lang="en-US" sz="1100" dirty="0">
                <a:solidFill>
                  <a:srgbClr val="15213F"/>
                </a:solidFill>
                <a:latin typeface="Roboto Slab" pitchFamily="34" charset="0"/>
                <a:ea typeface="Roboto Slab" pitchFamily="34" charset="-122"/>
                <a:cs typeface="Roboto Slab" pitchFamily="34" charset="-120"/>
              </a:rPr>
              <a:t>Saudi Arabia — Highest Loss</a:t>
            </a:r>
            <a:endParaRPr lang="en-US" sz="1100" dirty="0"/>
          </a:p>
        </p:txBody>
      </p:sp>
      <p:sp>
        <p:nvSpPr>
          <p:cNvPr id="12" name="Text 10"/>
          <p:cNvSpPr/>
          <p:nvPr/>
        </p:nvSpPr>
        <p:spPr>
          <a:xfrm>
            <a:off x="496119" y="3667646"/>
            <a:ext cx="4007718" cy="360462"/>
          </a:xfrm>
          <a:prstGeom prst="rect">
            <a:avLst/>
          </a:prstGeom>
          <a:noFill/>
          <a:ln/>
        </p:spPr>
        <p:txBody>
          <a:bodyPr wrap="square" lIns="0" tIns="0" rIns="0" bIns="0" rtlCol="0" anchor="t">
            <a:normAutofit/>
          </a:bodyPr>
          <a:lstStyle/>
          <a:p>
            <a:pPr marL="0" indent="0" algn="ctr">
              <a:lnSpc>
                <a:spcPct val="129000"/>
              </a:lnSpc>
              <a:buNone/>
            </a:pPr>
            <a:r>
              <a:rPr lang="en-US" sz="900" dirty="0">
                <a:solidFill>
                  <a:srgbClr val="15213F"/>
                </a:solidFill>
                <a:latin typeface="Roboto" pitchFamily="34" charset="0"/>
                <a:ea typeface="Roboto" pitchFamily="34" charset="-122"/>
                <a:cs typeface="Roboto" pitchFamily="34" charset="-120"/>
              </a:rPr>
              <a:t>Saudi Arabia recorded the greatest financial loss from AI incidents, highlighting the need for stronger AI risk management frameworks.</a:t>
            </a:r>
            <a:endParaRPr lang="en-US" sz="900" dirty="0"/>
          </a:p>
        </p:txBody>
      </p:sp>
      <p:sp>
        <p:nvSpPr>
          <p:cNvPr id="13" name="Text 11"/>
          <p:cNvSpPr/>
          <p:nvPr/>
        </p:nvSpPr>
        <p:spPr>
          <a:xfrm>
            <a:off x="4640089" y="2897014"/>
            <a:ext cx="4007793" cy="383753"/>
          </a:xfrm>
          <a:prstGeom prst="rect">
            <a:avLst/>
          </a:prstGeom>
          <a:noFill/>
          <a:ln/>
        </p:spPr>
        <p:txBody>
          <a:bodyPr wrap="none" lIns="0" tIns="0" rIns="0" bIns="0" rtlCol="0" anchor="t"/>
          <a:lstStyle/>
          <a:p>
            <a:pPr marL="0" indent="0" algn="ctr">
              <a:lnSpc>
                <a:spcPct val="83000"/>
              </a:lnSpc>
              <a:buNone/>
            </a:pPr>
            <a:r>
              <a:rPr lang="en-US" sz="3000" dirty="0">
                <a:solidFill>
                  <a:srgbClr val="15213F"/>
                </a:solidFill>
                <a:latin typeface="Roboto Slab" pitchFamily="34" charset="0"/>
                <a:ea typeface="Roboto Slab" pitchFamily="34" charset="-122"/>
                <a:cs typeface="Roboto Slab" pitchFamily="34" charset="-120"/>
              </a:rPr>
              <a:t>4</a:t>
            </a:r>
            <a:endParaRPr lang="en-US" sz="3000" dirty="0"/>
          </a:p>
        </p:txBody>
      </p:sp>
      <p:sp>
        <p:nvSpPr>
          <p:cNvPr id="14" name="Text 12"/>
          <p:cNvSpPr/>
          <p:nvPr/>
        </p:nvSpPr>
        <p:spPr>
          <a:xfrm>
            <a:off x="5714033" y="3420591"/>
            <a:ext cx="1859905" cy="181645"/>
          </a:xfrm>
          <a:prstGeom prst="rect">
            <a:avLst/>
          </a:prstGeom>
          <a:noFill/>
          <a:ln/>
        </p:spPr>
        <p:txBody>
          <a:bodyPr wrap="none" lIns="0" tIns="0" rIns="0" bIns="0" rtlCol="0" anchor="t"/>
          <a:lstStyle/>
          <a:p>
            <a:pPr marL="0" indent="0" algn="ctr">
              <a:lnSpc>
                <a:spcPct val="104000"/>
              </a:lnSpc>
              <a:buNone/>
            </a:pPr>
            <a:r>
              <a:rPr lang="en-US" sz="1100" dirty="0">
                <a:solidFill>
                  <a:srgbClr val="15213F"/>
                </a:solidFill>
                <a:latin typeface="Roboto Slab" pitchFamily="34" charset="0"/>
                <a:ea typeface="Roboto Slab" pitchFamily="34" charset="-122"/>
                <a:cs typeface="Roboto Slab" pitchFamily="34" charset="-120"/>
              </a:rPr>
              <a:t>Europe — Strong Readiness</a:t>
            </a:r>
            <a:endParaRPr lang="en-US" sz="1100" dirty="0"/>
          </a:p>
        </p:txBody>
      </p:sp>
      <p:sp>
        <p:nvSpPr>
          <p:cNvPr id="15" name="Text 13"/>
          <p:cNvSpPr/>
          <p:nvPr/>
        </p:nvSpPr>
        <p:spPr>
          <a:xfrm>
            <a:off x="4640089" y="3667646"/>
            <a:ext cx="4007793" cy="360462"/>
          </a:xfrm>
          <a:prstGeom prst="rect">
            <a:avLst/>
          </a:prstGeom>
          <a:noFill/>
          <a:ln/>
        </p:spPr>
        <p:txBody>
          <a:bodyPr wrap="square" lIns="0" tIns="0" rIns="0" bIns="0" rtlCol="0" anchor="t">
            <a:normAutofit/>
          </a:bodyPr>
          <a:lstStyle/>
          <a:p>
            <a:pPr marL="0" indent="0" algn="ctr">
              <a:lnSpc>
                <a:spcPct val="129000"/>
              </a:lnSpc>
              <a:buNone/>
            </a:pPr>
            <a:r>
              <a:rPr lang="en-US" sz="900" dirty="0">
                <a:solidFill>
                  <a:srgbClr val="15213F"/>
                </a:solidFill>
                <a:latin typeface="Roboto" pitchFamily="34" charset="0"/>
                <a:ea typeface="Roboto" pitchFamily="34" charset="-122"/>
                <a:cs typeface="Roboto" pitchFamily="34" charset="-120"/>
              </a:rPr>
              <a:t>European nations demonstrate above-average AI readiness, supported by robust cloud infrastructure and proactive regulatory frameworks.</a:t>
            </a:r>
            <a:endParaRPr lang="en-US" sz="900" dirty="0"/>
          </a:p>
        </p:txBody>
      </p:sp>
      <p:sp>
        <p:nvSpPr>
          <p:cNvPr id="16" name="Shape 14"/>
          <p:cNvSpPr/>
          <p:nvPr/>
        </p:nvSpPr>
        <p:spPr>
          <a:xfrm>
            <a:off x="496119" y="4150742"/>
            <a:ext cx="8151763" cy="625599"/>
          </a:xfrm>
          <a:prstGeom prst="roundRect">
            <a:avLst>
              <a:gd name="adj" fmla="val 2788"/>
            </a:avLst>
          </a:prstGeom>
          <a:solidFill>
            <a:srgbClr val="D7DFF4"/>
          </a:solidFill>
          <a:ln/>
        </p:spPr>
      </p:sp>
      <p:pic>
        <p:nvPicPr>
          <p:cNvPr id="17" name="Image 0" descr="preencoded.png"/>
          <p:cNvPicPr>
            <a:picLocks noChangeAspect="1"/>
          </p:cNvPicPr>
          <p:nvPr/>
        </p:nvPicPr>
        <p:blipFill>
          <a:blip r:embed="rId3"/>
          <a:stretch>
            <a:fillRect/>
          </a:stretch>
        </p:blipFill>
        <p:spPr>
          <a:xfrm>
            <a:off x="612353" y="4313337"/>
            <a:ext cx="145331" cy="116235"/>
          </a:xfrm>
          <a:prstGeom prst="rect">
            <a:avLst/>
          </a:prstGeom>
        </p:spPr>
      </p:pic>
      <p:sp>
        <p:nvSpPr>
          <p:cNvPr id="18" name="Text 15"/>
          <p:cNvSpPr/>
          <p:nvPr/>
        </p:nvSpPr>
        <p:spPr>
          <a:xfrm>
            <a:off x="873919" y="4288780"/>
            <a:ext cx="7657728" cy="360462"/>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000000"/>
                </a:solidFill>
                <a:latin typeface="Roboto" pitchFamily="34" charset="0"/>
                <a:ea typeface="Roboto" pitchFamily="34" charset="-122"/>
                <a:cs typeface="Roboto" pitchFamily="34" charset="-120"/>
              </a:rPr>
              <a:t>Successful AI adoption depends on four pillars: </a:t>
            </a:r>
            <a:r>
              <a:rPr lang="en-US" sz="900" b="1" dirty="0">
                <a:solidFill>
                  <a:srgbClr val="000000"/>
                </a:solidFill>
                <a:latin typeface="Roboto Bold" pitchFamily="34" charset="0"/>
                <a:ea typeface="Roboto Bold" pitchFamily="34" charset="-122"/>
                <a:cs typeface="Roboto Bold" pitchFamily="34" charset="-120"/>
              </a:rPr>
              <a:t>technology infrastructure, effective governance, public trust, and workforce reskilling</a:t>
            </a:r>
            <a:r>
              <a:rPr lang="en-US" sz="900" dirty="0">
                <a:solidFill>
                  <a:srgbClr val="000000"/>
                </a:solidFill>
                <a:latin typeface="Roboto" pitchFamily="34" charset="0"/>
                <a:ea typeface="Roboto" pitchFamily="34" charset="-122"/>
                <a:cs typeface="Roboto" pitchFamily="34" charset="-120"/>
              </a:rPr>
              <a:t> — no single factor is sufficient alone.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049685"/>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3257B8"/>
                </a:solidFill>
                <a:latin typeface="Roboto Slab" pitchFamily="34" charset="0"/>
                <a:ea typeface="Roboto Slab" pitchFamily="34" charset="-122"/>
                <a:cs typeface="Roboto Slab" pitchFamily="34" charset="-120"/>
              </a:rPr>
              <a:t>Conclusion</a:t>
            </a:r>
            <a:endParaRPr lang="en-US" sz="2750" dirty="0"/>
          </a:p>
        </p:txBody>
      </p:sp>
      <p:sp>
        <p:nvSpPr>
          <p:cNvPr id="4" name="Text 1"/>
          <p:cNvSpPr/>
          <p:nvPr/>
        </p:nvSpPr>
        <p:spPr>
          <a:xfrm>
            <a:off x="4066877" y="1705272"/>
            <a:ext cx="5038205" cy="1486645"/>
          </a:xfrm>
          <a:prstGeom prst="rect">
            <a:avLst/>
          </a:prstGeom>
          <a:noFill/>
          <a:ln/>
        </p:spPr>
        <p:txBody>
          <a:bodyPr wrap="none" lIns="0" tIns="0" rIns="0" bIns="0" rtlCol="0" anchor="t"/>
          <a:lstStyle/>
          <a:p>
            <a:pPr>
              <a:lnSpc>
                <a:spcPct val="133000"/>
              </a:lnSpc>
            </a:pPr>
            <a:endParaRPr lang="en-US" sz="1100" dirty="0"/>
          </a:p>
        </p:txBody>
      </p:sp>
      <p:sp>
        <p:nvSpPr>
          <p:cNvPr id="6" name="Text 3"/>
          <p:cNvSpPr/>
          <p:nvPr/>
        </p:nvSpPr>
        <p:spPr>
          <a:xfrm>
            <a:off x="4066877" y="2233315"/>
            <a:ext cx="1772022" cy="221456"/>
          </a:xfrm>
          <a:prstGeom prst="rect">
            <a:avLst/>
          </a:prstGeom>
          <a:noFill/>
          <a:ln/>
        </p:spPr>
        <p:txBody>
          <a:bodyPr wrap="none" lIns="0" tIns="0" rIns="0" bIns="0" rtlCol="0" anchor="t"/>
          <a:lstStyle/>
          <a:p>
            <a:pPr marL="0" indent="0" algn="l">
              <a:lnSpc>
                <a:spcPct val="104000"/>
              </a:lnSpc>
              <a:buNone/>
            </a:pPr>
            <a:endParaRPr lang="en-US" sz="1350" dirty="0"/>
          </a:p>
        </p:txBody>
      </p:sp>
      <p:sp>
        <p:nvSpPr>
          <p:cNvPr id="7" name="Text 4"/>
          <p:cNvSpPr/>
          <p:nvPr/>
        </p:nvSpPr>
        <p:spPr>
          <a:xfrm>
            <a:off x="4066877" y="2539826"/>
            <a:ext cx="2006947" cy="453628"/>
          </a:xfrm>
          <a:prstGeom prst="rect">
            <a:avLst/>
          </a:prstGeom>
          <a:noFill/>
          <a:ln/>
        </p:spPr>
        <p:txBody>
          <a:bodyPr wrap="square" lIns="0" tIns="0" rIns="0" bIns="0" rtlCol="0" anchor="t">
            <a:normAutofit/>
          </a:bodyPr>
          <a:lstStyle/>
          <a:p>
            <a:pPr marL="0" indent="0" algn="l">
              <a:lnSpc>
                <a:spcPct val="133000"/>
              </a:lnSpc>
              <a:buNone/>
            </a:pPr>
            <a:endParaRPr lang="en-US" sz="1100" dirty="0"/>
          </a:p>
        </p:txBody>
      </p:sp>
      <p:sp>
        <p:nvSpPr>
          <p:cNvPr id="9" name="Text 6"/>
          <p:cNvSpPr/>
          <p:nvPr/>
        </p:nvSpPr>
        <p:spPr>
          <a:xfrm>
            <a:off x="6499101" y="2233315"/>
            <a:ext cx="1772022" cy="221456"/>
          </a:xfrm>
          <a:prstGeom prst="rect">
            <a:avLst/>
          </a:prstGeom>
          <a:noFill/>
          <a:ln/>
        </p:spPr>
        <p:txBody>
          <a:bodyPr wrap="none" lIns="0" tIns="0" rIns="0" bIns="0" rtlCol="0" anchor="t"/>
          <a:lstStyle/>
          <a:p>
            <a:pPr marL="0" indent="0" algn="l">
              <a:lnSpc>
                <a:spcPct val="104000"/>
              </a:lnSpc>
              <a:buNone/>
            </a:pPr>
            <a:endParaRPr lang="en-US" sz="1350" dirty="0"/>
          </a:p>
        </p:txBody>
      </p:sp>
      <p:sp>
        <p:nvSpPr>
          <p:cNvPr id="10" name="Text 7"/>
          <p:cNvSpPr/>
          <p:nvPr/>
        </p:nvSpPr>
        <p:spPr>
          <a:xfrm>
            <a:off x="6499101" y="2539826"/>
            <a:ext cx="2007022" cy="226814"/>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11" name="Shape 8"/>
          <p:cNvSpPr/>
          <p:nvPr/>
        </p:nvSpPr>
        <p:spPr>
          <a:xfrm>
            <a:off x="3925117" y="3685393"/>
            <a:ext cx="4722763" cy="816843"/>
          </a:xfrm>
          <a:prstGeom prst="roundRect">
            <a:avLst>
              <a:gd name="adj" fmla="val 2603"/>
            </a:avLst>
          </a:prstGeom>
          <a:solidFill>
            <a:srgbClr val="E9ECF2"/>
          </a:solidFill>
          <a:ln/>
        </p:spPr>
      </p:sp>
      <p:sp>
        <p:nvSpPr>
          <p:cNvPr id="12" name="Text 9"/>
          <p:cNvSpPr/>
          <p:nvPr/>
        </p:nvSpPr>
        <p:spPr>
          <a:xfrm>
            <a:off x="4017640" y="4026753"/>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5213F"/>
                </a:solidFill>
                <a:latin typeface="Roboto Slab" pitchFamily="34" charset="0"/>
                <a:ea typeface="Roboto Slab" pitchFamily="34" charset="-122"/>
                <a:cs typeface="Roboto Slab" pitchFamily="34" charset="-120"/>
              </a:rPr>
              <a:t>Thank You</a:t>
            </a:r>
            <a:endParaRPr lang="en-US" sz="1350" dirty="0"/>
          </a:p>
        </p:txBody>
      </p:sp>
      <p:sp>
        <p:nvSpPr>
          <p:cNvPr id="13" name="Text 10"/>
          <p:cNvSpPr/>
          <p:nvPr/>
        </p:nvSpPr>
        <p:spPr>
          <a:xfrm>
            <a:off x="4066877" y="3725242"/>
            <a:ext cx="4439245" cy="226814"/>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15" name="TextBox 14">
            <a:extLst>
              <a:ext uri="{FF2B5EF4-FFF2-40B4-BE49-F238E27FC236}">
                <a16:creationId xmlns:a16="http://schemas.microsoft.com/office/drawing/2014/main" id="{18F77785-C53D-ACA9-78B3-BBD71C36BEBE}"/>
              </a:ext>
            </a:extLst>
          </p:cNvPr>
          <p:cNvSpPr txBox="1"/>
          <p:nvPr/>
        </p:nvSpPr>
        <p:spPr>
          <a:xfrm>
            <a:off x="3868493" y="1665989"/>
            <a:ext cx="4881611" cy="1815882"/>
          </a:xfrm>
          <a:prstGeom prst="rect">
            <a:avLst/>
          </a:prstGeom>
          <a:noFill/>
        </p:spPr>
        <p:txBody>
          <a:bodyPr wrap="square">
            <a:spAutoFit/>
          </a:bodyPr>
          <a:lstStyle/>
          <a:p>
            <a:r>
              <a:rPr lang="en-IN" sz="1400" dirty="0"/>
              <a:t>To conclude, this project shows how SQL and MySQL Workbench can transform raw data into meaningful business insights. The analysis highlights that AI creates new opportunities for innovation and economic growth, but it also brings challenges such as financial risks, job displacement, and ethical issues. The results show that successful AI adoption depends not only on technology but also on strong regulations, public trust, responsible AI, and workforce reskilling.</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ysClr val="window" lastClr="FFFFFF"/>
      </a:lt1>
      <a:dk2>
        <a:srgbClr val="5E5E5E"/>
      </a:dk2>
      <a:lt2>
        <a:srgbClr val="DDDDDD"/>
      </a:lt2>
      <a:accent1>
        <a:srgbClr val="A6B727"/>
      </a:accent1>
      <a:accent2>
        <a:srgbClr val="418AB3"/>
      </a:accent2>
      <a:accent3>
        <a:srgbClr val="F69200"/>
      </a:accent3>
      <a:accent4>
        <a:srgbClr val="838383"/>
      </a:accent4>
      <a:accent5>
        <a:srgbClr val="FEC306"/>
      </a:accent5>
      <a:accent6>
        <a:srgbClr val="DF5327"/>
      </a:accent6>
      <a:hlink>
        <a:srgbClr val="F59E00"/>
      </a:hlink>
      <a:folHlink>
        <a:srgbClr val="B2B2B2"/>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A425FB89-E954-4A2A-81DC-D90804A94D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577</TotalTime>
  <Words>704</Words>
  <Application>Microsoft Office PowerPoint</Application>
  <PresentationFormat>On-screen Show (16:9)</PresentationFormat>
  <Paragraphs>83</Paragraphs>
  <Slides>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Roboto Slab</vt:lpstr>
      <vt:lpstr>Roboto Bold</vt:lpstr>
      <vt:lpstr>Roboto</vt:lpstr>
      <vt:lpstr>Arial</vt:lpstr>
      <vt:lpstr>Consolas</vt:lpstr>
      <vt:lpstr>Gill Sans MT</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test</dc:creator>
  <cp:lastModifiedBy>Ajith kumar</cp:lastModifiedBy>
  <cp:revision>6</cp:revision>
  <dcterms:created xsi:type="dcterms:W3CDTF">2026-07-02T16:19:35Z</dcterms:created>
  <dcterms:modified xsi:type="dcterms:W3CDTF">2026-07-06T15:43:50Z</dcterms:modified>
</cp:coreProperties>
</file>